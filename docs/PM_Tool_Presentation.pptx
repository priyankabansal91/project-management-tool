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52B4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60320"/>
            <a:ext cx="164592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Project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Tool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SaaS platform for multi-division enterprise project delivery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64992"/>
            <a:ext cx="3200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   |   v2.0   |   Confidential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914400"/>
            <a:ext cx="3474720" cy="5303520"/>
          </a:xfrm>
          <a:prstGeom prst="roundRect">
            <a:avLst>
              <a:gd name="adj" fmla="val 5263"/>
            </a:avLst>
          </a:prstGeom>
          <a:solidFill>
            <a:srgbClr val="253E5E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1097280"/>
            <a:ext cx="3108960" cy="4937760"/>
          </a:xfrm>
          <a:prstGeom prst="roundRect">
            <a:avLst>
              <a:gd name="adj" fmla="val 3529"/>
            </a:avLst>
          </a:prstGeom>
          <a:solidFill>
            <a:srgbClr val="1A2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2618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389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195560" y="12618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2D5FA3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5560" y="1389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0" y="21762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3042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195560" y="21762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2D5FA3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5560" y="23042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0" y="30906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195560" y="30906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2D5FA3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0" y="40050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4133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95560" y="40050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2D5FA3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560" y="4133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49194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50474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95560" y="4919472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2D5FA3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50474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234440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1234440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99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2893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5819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addressed and value delivered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075688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2075688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0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1305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role-based access control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16936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916936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2916936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081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971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PM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264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Kanban board, Tasks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758184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758184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" y="3758184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227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8130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1056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 planning and execution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599432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4599432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94944" y="4599432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7640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4654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Division Mgmt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49469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onboarding, hierarchy, permissions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44068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5440680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440680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6052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" y="54955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Approvals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" y="57881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 types, multi-step approval chains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123444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1234440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46" name="Shape 44"/>
          <p:cNvSpPr/>
          <p:nvPr/>
        </p:nvSpPr>
        <p:spPr>
          <a:xfrm>
            <a:off x="6547104" y="1234440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1399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12280" y="12893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12280" y="15819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Timesheets, logging, approvals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207568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51" name="Shape 49"/>
          <p:cNvSpPr/>
          <p:nvPr/>
        </p:nvSpPr>
        <p:spPr>
          <a:xfrm>
            <a:off x="6217920" y="2075688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6547104" y="2075688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2240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12280" y="21305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12280" y="2423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leave management, team view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17920" y="2916936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57" name="Shape 55"/>
          <p:cNvSpPr/>
          <p:nvPr/>
        </p:nvSpPr>
        <p:spPr>
          <a:xfrm>
            <a:off x="6217920" y="2916936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58" name="Shape 56"/>
          <p:cNvSpPr/>
          <p:nvPr/>
        </p:nvSpPr>
        <p:spPr>
          <a:xfrm>
            <a:off x="6547104" y="2916936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3081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812280" y="2971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Gantt, Feature Flags &amp; More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12280" y="3264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view, role configuration, onboarding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3758184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63" name="Shape 61"/>
          <p:cNvSpPr/>
          <p:nvPr/>
        </p:nvSpPr>
        <p:spPr>
          <a:xfrm>
            <a:off x="6217920" y="3758184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64" name="Shape 62"/>
          <p:cNvSpPr/>
          <p:nvPr/>
        </p:nvSpPr>
        <p:spPr>
          <a:xfrm>
            <a:off x="6547104" y="3758184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6217920" y="39227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12280" y="38130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Capacity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12280" y="41056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scores, utilization heatmaps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4599432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69" name="Shape 67"/>
          <p:cNvSpPr/>
          <p:nvPr/>
        </p:nvSpPr>
        <p:spPr>
          <a:xfrm>
            <a:off x="6217920" y="4599432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70" name="Shape 68"/>
          <p:cNvSpPr/>
          <p:nvPr/>
        </p:nvSpPr>
        <p:spPr>
          <a:xfrm>
            <a:off x="6547104" y="4599432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1" name="Text 69"/>
          <p:cNvSpPr/>
          <p:nvPr/>
        </p:nvSpPr>
        <p:spPr>
          <a:xfrm>
            <a:off x="6217920" y="47640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812280" y="4654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812280" y="49469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OKRs, scorecards, resource view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5440680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75" name="Shape 73"/>
          <p:cNvSpPr/>
          <p:nvPr/>
        </p:nvSpPr>
        <p:spPr>
          <a:xfrm>
            <a:off x="6217920" y="5440680"/>
            <a:ext cx="502920" cy="694944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47104" y="5440680"/>
            <a:ext cx="18288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7" name="Text 75"/>
          <p:cNvSpPr/>
          <p:nvPr/>
        </p:nvSpPr>
        <p:spPr>
          <a:xfrm>
            <a:off x="6217920" y="56052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812280" y="54955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812280" y="57881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features and production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 and value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Addressed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5303520" cy="4389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916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Siloed project data across divisions — no unified 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530352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02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status tracking causing missed deadlines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5303520" cy="4389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889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visibility into team capacity and resource utilization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73552"/>
            <a:ext cx="530352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375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Disconnected approval workflows causing delays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22192"/>
            <a:ext cx="5303520" cy="43891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862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real-time portfolio health monitoring for leadership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530352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348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Time &amp; attendance tracking scattered across spreadsheets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1627632"/>
            <a:ext cx="530352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6916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Single unified platform for all divisions and projects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176272"/>
            <a:ext cx="5303520" cy="43891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2402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Kanban + Gantt with drag-and-drop task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724912"/>
            <a:ext cx="530352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7889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Capacity planning heatmaps and resource dashboards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273552"/>
            <a:ext cx="5303520" cy="43891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3375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Configurable approval chains with full audit trails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822192"/>
            <a:ext cx="530352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8862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Executive portfolio dashboard with health scores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4370832"/>
            <a:ext cx="5303520" cy="43891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4348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Integrated time logging, timesheets &amp; attendance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234440"/>
            <a:ext cx="36576" cy="365760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role-based access control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45336"/>
            <a:ext cx="539496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399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8013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access. Manages users, divisions, billing, global settings, and all projects across the organization.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EA580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545336"/>
            <a:ext cx="5394960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399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Admin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8013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specific division — its projects, members, budget, workflows, and division-level configurations.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099816"/>
            <a:ext cx="539496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2953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35584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manages projects, assigns tasks, runs sprints, approves timesheets, and monitors team capacity.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88036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099816"/>
            <a:ext cx="539496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2953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335584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assigned tasks, logs time, submits timesheets, clocks attendance, participates in sprints, adds comments.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43484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654296"/>
            <a:ext cx="539496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4507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" y="491032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portfolio dashboards, OKR tracking, executive scorecards, and cross-division reports.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434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4434840"/>
            <a:ext cx="5394960" cy="384048"/>
          </a:xfrm>
          <a:prstGeom prst="roundRect">
            <a:avLst>
              <a:gd name="adj" fmla="val 23810"/>
            </a:avLst>
          </a:prstGeom>
          <a:solidFill>
            <a:srgbClr val="475569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4654296"/>
            <a:ext cx="5394960" cy="1645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507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82512" y="491032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read-only access to specific projects they are granted visibility into. Cannot create or modify.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org-wide visibility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325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8036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325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8B5C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496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13258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09560" y="19842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Sprints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53035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2834640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834640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2834640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" y="2788920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280720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3035808"/>
            <a:ext cx="53035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0723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01568"/>
            <a:ext cx="5303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4747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Sprint 3 started — ProjectFlow Platform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730752"/>
            <a:ext cx="53035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8039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"Analytics dashboard wireframes" marked Done by Ravi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059936"/>
            <a:ext cx="5303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Comment thread on "Design navigation component"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53035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4462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Anjali Singh invited Vikram Mehta to Mobile App v2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718304"/>
            <a:ext cx="53035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47914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 log submitted: 4h on OpenAPI specification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047488"/>
            <a:ext cx="53035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" y="51206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Sub-division "Frontend Team" created under Engineering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2743200"/>
            <a:ext cx="5760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2743200"/>
            <a:ext cx="576072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6144768" y="2834640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44" name="Shape 42"/>
          <p:cNvSpPr/>
          <p:nvPr/>
        </p:nvSpPr>
        <p:spPr>
          <a:xfrm>
            <a:off x="6309360" y="2834640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73952" y="2834640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5120" y="2788920"/>
            <a:ext cx="484632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280720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35040" y="3035808"/>
            <a:ext cx="57607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30723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(Due Soon)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3401568"/>
            <a:ext cx="5760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199632" y="34747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   — Design navigation component     (Due: May 10)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35040" y="3730752"/>
            <a:ext cx="57607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6199632" y="38039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 — Implement auth flow             (Due: May 15)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35040" y="4059936"/>
            <a:ext cx="5760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199632" y="413308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    — OpenAPI specification           (Due: May 20)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35040" y="4389120"/>
            <a:ext cx="57607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44622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 — Role-based permission matrix    (Due: May 20)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35040" y="4718304"/>
            <a:ext cx="5760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199632" y="4791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     — Write integration test suite    (Due: Jun 01)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605332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sidebar: Dashboard · Projects · My Tasks · Calendar · Gantt · Sprints · Attendance · Reports · Capacity · Executive · Admin modules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lifecycle with Kanban 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54480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19072"/>
            <a:ext cx="2084832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208483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middleware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245059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4688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920240" y="24323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46888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309067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 suite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" y="345643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4747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920240" y="343814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347472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51760" y="155448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1554480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651760" y="1719072"/>
            <a:ext cx="208483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0" y="201168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16352" y="208483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 flow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16352" y="245059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352" y="24688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206240" y="24323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246888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743200" y="30175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816352" y="309067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 UI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16352" y="345643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38" name="Text 36"/>
          <p:cNvSpPr/>
          <p:nvPr/>
        </p:nvSpPr>
        <p:spPr>
          <a:xfrm>
            <a:off x="2816352" y="34747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206240" y="343814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347472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937760" y="155448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4937760" y="1554480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4937760" y="1719072"/>
            <a:ext cx="208483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0" y="201168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02352" y="208483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UI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02352" y="245059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24688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492240" y="24323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246888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029200" y="301752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102352" y="309067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02352" y="345643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54" name="Text 52"/>
          <p:cNvSpPr/>
          <p:nvPr/>
        </p:nvSpPr>
        <p:spPr>
          <a:xfrm>
            <a:off x="5102352" y="34747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492240" y="343814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0" y="347472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223760" y="155448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1F5F9"/>
          </a:solidFill>
          <a:ln/>
        </p:spPr>
      </p:sp>
      <p:sp>
        <p:nvSpPr>
          <p:cNvPr id="58" name="Shape 56"/>
          <p:cNvSpPr/>
          <p:nvPr/>
        </p:nvSpPr>
        <p:spPr>
          <a:xfrm>
            <a:off x="7223760" y="1554480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/>
        </p:spPr>
      </p:sp>
      <p:sp>
        <p:nvSpPr>
          <p:cNvPr id="59" name="Shape 57"/>
          <p:cNvSpPr/>
          <p:nvPr/>
        </p:nvSpPr>
        <p:spPr>
          <a:xfrm>
            <a:off x="7223760" y="1719072"/>
            <a:ext cx="2084832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15200" y="201168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388352" y="208483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88352" y="245059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64" name="Text 62"/>
          <p:cNvSpPr/>
          <p:nvPr/>
        </p:nvSpPr>
        <p:spPr>
          <a:xfrm>
            <a:off x="7388352" y="24688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8778240" y="24323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8778240" y="246888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9509760" y="1554480"/>
            <a:ext cx="2084832" cy="4480560"/>
          </a:xfrm>
          <a:prstGeom prst="roundRect">
            <a:avLst>
              <a:gd name="adj" fmla="val 4386"/>
            </a:avLst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9509760" y="1554480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/>
        </p:spPr>
      </p:sp>
      <p:sp>
        <p:nvSpPr>
          <p:cNvPr id="69" name="Shape 67"/>
          <p:cNvSpPr/>
          <p:nvPr/>
        </p:nvSpPr>
        <p:spPr>
          <a:xfrm>
            <a:off x="9509760" y="1719072"/>
            <a:ext cx="2084832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96012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601200" y="2011680"/>
            <a:ext cx="190195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9674352" y="2084832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wireframes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674352" y="2450592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FEF9C3"/>
          </a:solidFill>
          <a:ln/>
        </p:spPr>
      </p:sp>
      <p:sp>
        <p:nvSpPr>
          <p:cNvPr id="74" name="Text 72"/>
          <p:cNvSpPr/>
          <p:nvPr/>
        </p:nvSpPr>
        <p:spPr>
          <a:xfrm>
            <a:off x="9674352" y="24688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1064240" y="24323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6" name="Text 74"/>
          <p:cNvSpPr/>
          <p:nvPr/>
        </p:nvSpPr>
        <p:spPr>
          <a:xfrm>
            <a:off x="11064240" y="2468880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365760" y="610819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projects across 5 divisions   ·   20 tasks with full seed data   ·   Drag-and-drop   ·   Priority badges   ·   Assignee avatars   ·   Inline task creation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 planning and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270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344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– Core Features — Active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dashboard, task board, and user 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0" y="1353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92640" y="1353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0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0" y="1353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0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Sprints across 3 Projects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6784" y="2807208"/>
            <a:ext cx="685800" cy="219456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614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Sprint 1 – Foundation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05072" y="28254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3017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447288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3557016"/>
            <a:ext cx="685800" cy="219456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112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Sprint 2 – Core Features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05072" y="357530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8640" y="3767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197096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4306824"/>
            <a:ext cx="685800" cy="219456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611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Sprint 1 – Design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05072" y="43251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8640" y="4517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946904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86784" y="5056632"/>
            <a:ext cx="685800" cy="219456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010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Sprint 2 – Core APIs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05072" y="50749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" y="5266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5696712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86784" y="5806440"/>
            <a:ext cx="685800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7607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Sprint 1 – Setup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05072" y="582472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6016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0" y="2359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Tasks &amp; Backlog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2670048"/>
            <a:ext cx="7406640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2670048"/>
            <a:ext cx="740664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4681728" y="2761488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2761488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50" name="Shape 48"/>
          <p:cNvSpPr/>
          <p:nvPr/>
        </p:nvSpPr>
        <p:spPr>
          <a:xfrm>
            <a:off x="5010912" y="2761488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51" name="Shape 49"/>
          <p:cNvSpPr/>
          <p:nvPr/>
        </p:nvSpPr>
        <p:spPr>
          <a:xfrm>
            <a:off x="5212080" y="2715768"/>
            <a:ext cx="649224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2734056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72000" y="2962656"/>
            <a:ext cx="740664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4" name="Text 52"/>
          <p:cNvSpPr/>
          <p:nvPr/>
        </p:nvSpPr>
        <p:spPr>
          <a:xfrm>
            <a:off x="4709160" y="299923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ProjectFlow Platform Tasks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328416"/>
            <a:ext cx="7406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340156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  Implement authentication flow           • Anjali Singh  • To Do    16h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0" y="3657600"/>
            <a:ext cx="740664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4736592" y="373075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      Design navigation component             • Ravi Kumar    • In Prog   8h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0" y="3986784"/>
            <a:ext cx="7406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40599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      Set up CI/CD pipeline                   • Anjali Singh  • Review    6h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0" y="4315968"/>
            <a:ext cx="740664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4736592" y="438912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   Role-based permission matrix UI         • Ravi Kumar    • To Do    10h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72000" y="4645152"/>
            <a:ext cx="7406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736592" y="471830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─ ─ ─ ─ ─ ─ ─ ─ ─ ─ BACKLOG ─ ─ ─ ─ ─ ─ ─ ─ ─ ─ ─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72000" y="4974336"/>
            <a:ext cx="740664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4736592" y="504748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LOW       Write integration test suite           [+ Add to Sprint]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0" y="5303520"/>
            <a:ext cx="7406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736592" y="537667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MED       Customer API docs                      [+ Add to Sprint]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tracking, threaded comments &amp; collaboration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566928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6692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35608"/>
            <a:ext cx="566928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298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PF-1   ·   Task Detail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71907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navigation component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1762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top navigation bar with improved UX and mobile support. Requires Safari testing, keyboard accessibility (WCAG AA), and role-aware nav items.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45920" y="2697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0" y="2697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Singh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45920" y="3703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Hours: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89120" y="3703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 (5h logged)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5669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(4)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1830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14400" y="466344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Singh: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4400" y="48646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test in Safari — there were animation issues in the previous iteration.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26694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914400" y="521208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14400" y="5413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bugs fixed! Added Playwright cross-browser tests. Ready for review.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57607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81558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14400" y="576072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59618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ensure keyboard accessibility (WCAG AA)? Required for this sprint.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Page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572768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1572768"/>
            <a:ext cx="54864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9088" y="1664208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0" y="1664208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45" name="Shape 43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9440" y="1618488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6995160" y="163677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309360" y="1865376"/>
            <a:ext cx="54864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190195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— All Tasks (20 seeded)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2231136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73952" y="23042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PF-1     Design navigation component     HIGH     Due May 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2560320"/>
            <a:ext cx="5486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6473952" y="26334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PF-2     Implement auth flow              CRITICAL Due May 15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2889504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473952" y="296265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APIV3-1  OpenAPI specification            HIGH     Due May 20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9360" y="3218688"/>
            <a:ext cx="5486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6473952" y="32918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PF-3     Analytics wireframes            MED      Completed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309360" y="354787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473952" y="36210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MOB-1    React Native scaffolding         CRITICAL Completed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09360" y="4114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Features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4434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09360" y="4434840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4617720"/>
            <a:ext cx="260604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44897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46520" y="4837176"/>
            <a:ext cx="23317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Filter: All / Open / Overdue /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select: mark done,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by title keyword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seeded tasks across 5 projects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052560" y="4434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052560" y="4434840"/>
            <a:ext cx="260604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52560" y="4617720"/>
            <a:ext cx="260604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89720" y="44897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189720" y="4837176"/>
            <a:ext cx="23317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Threaded comment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seeded threaded comments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&amp; delete own comments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@mention in comments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Onboarding Wizard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Invite, manage, and onboard teams efficiently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72768"/>
            <a:ext cx="54864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664208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664208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1664208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1618488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1636776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54864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0195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Active Members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31136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3042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Priya Sharma       org admin       ● active   Joined Jan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5486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26334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Vikram Mehta       div admin       ● active   Joined Jan 2026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96265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Anjali Singh       proj manager    ● active   Joined Jan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18688"/>
            <a:ext cx="5486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2918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Ravi Kumar         member          ● active   Joined Jan 2026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54787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6210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Sunita Reddy       executive       ● active   Joined Jan 2026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77056"/>
            <a:ext cx="54864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95020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Arjun Patel        viewer          ● active   Joined Feb 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2648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 — 5-Step Setup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1572768"/>
            <a:ext cx="57607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82880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8836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2212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656832" y="1993392"/>
            <a:ext cx="70408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7360920" y="182880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18836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87768" y="2212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Head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08392" y="1993392"/>
            <a:ext cx="70408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8412480" y="182880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18836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39328" y="2212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Team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759952" y="1993392"/>
            <a:ext cx="70408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42"/>
          <p:cNvSpPr/>
          <p:nvPr/>
        </p:nvSpPr>
        <p:spPr>
          <a:xfrm>
            <a:off x="9464040" y="182880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9464040" y="18836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90888" y="2212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811512" y="1993392"/>
            <a:ext cx="704088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15600" y="1828800"/>
            <a:ext cx="347472" cy="347472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10515600" y="18836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442448" y="2212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09360" y="2542032"/>
            <a:ext cx="539496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2615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5 — Set Permissions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2926080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30175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Full Access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052560" y="2926080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89720" y="30175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Standard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55080" y="3584448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3675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Read Only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52560" y="3584448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89720" y="3675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Custom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875520" y="5559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9875520" y="5632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65760" y="4645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4956048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65" name="Text 63"/>
          <p:cNvSpPr/>
          <p:nvPr/>
        </p:nvSpPr>
        <p:spPr>
          <a:xfrm>
            <a:off x="502920" y="50292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SMTP email invite delivery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154680" y="4956048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67" name="Text 65"/>
          <p:cNvSpPr/>
          <p:nvPr/>
        </p:nvSpPr>
        <p:spPr>
          <a:xfrm>
            <a:off x="3291840" y="502920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Invite expires in 7 days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539496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" y="54681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invite detection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154680" y="539496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71" name="Text 69"/>
          <p:cNvSpPr/>
          <p:nvPr/>
        </p:nvSpPr>
        <p:spPr>
          <a:xfrm>
            <a:off x="3291840" y="54681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Suspend / Reactivate members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583387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73" name="Text 71"/>
          <p:cNvSpPr/>
          <p:nvPr/>
        </p:nvSpPr>
        <p:spPr>
          <a:xfrm>
            <a:off x="502920" y="59070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 change in one click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154680" y="5833872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75" name="Text 73"/>
          <p:cNvSpPr/>
          <p:nvPr/>
        </p:nvSpPr>
        <p:spPr>
          <a:xfrm>
            <a:off x="3291840" y="59070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wizard: 5-step division setup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division hierarchy with sub-divisions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61872"/>
            <a:ext cx="3657600" cy="402336"/>
          </a:xfrm>
          <a:prstGeom prst="roundRect">
            <a:avLst>
              <a:gd name="adj" fmla="val 27273"/>
            </a:avLst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81328"/>
            <a:ext cx="365760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3167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73352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3352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43784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43784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578608"/>
            <a:ext cx="338328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3347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Sub-divisions: Frontend Team, Backend &amp; DevOps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2920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ENG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0" y="126187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261872"/>
            <a:ext cx="3657600" cy="402336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1481328"/>
            <a:ext cx="365760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13167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34840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05272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05272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75704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75704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34840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SALES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29600" y="1261872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1261872"/>
            <a:ext cx="3657600" cy="402336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0" y="1481328"/>
            <a:ext cx="365760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13167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66760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66760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537192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37192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07624" y="18288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707624" y="2212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66760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HR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36393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Hierarchy (Tree View)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5943600" cy="2267712"/>
          </a:xfrm>
          <a:prstGeom prst="roundRect">
            <a:avLst>
              <a:gd name="adj" fmla="val 4032"/>
            </a:avLst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09651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Engineering (ENG)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5840" y="449884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└── Frontend Team (FE)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05840" y="490118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└── Backend &amp; DevOps (BE)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" y="530352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Sales &amp; Marketing (SALES)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" y="570585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Human Resources (HR)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92240" y="3639312"/>
            <a:ext cx="265176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92240" y="363931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92240" y="3822192"/>
            <a:ext cx="265176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3694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29400" y="4041648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divisions (2 sub-divisions)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Parent-child hierarchy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codes, color-coded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 &amp; list view toggle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326880" y="3639312"/>
            <a:ext cx="265176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326880" y="363931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26880" y="3822192"/>
            <a:ext cx="26517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64040" y="3694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464040" y="4041648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allocation per division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Headcount management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 assignment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wizard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Approvals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 types and configurable approval chains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Built-in Workflow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Kanban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1783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77640" y="18470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783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97880" y="18470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18120" y="18470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1783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738360" y="18470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21240" y="1783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797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40280" y="27889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7764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27889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9788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7889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1812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01000" y="27889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738360" y="2852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21240" y="27889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0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65760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78561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3-Stage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240280" y="379476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028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77640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60520" y="379476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97880" y="3858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80760" y="379476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3858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466344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7914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40280" y="4800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4028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977640" y="4864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60520" y="4800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052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897880" y="4864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80760" y="4800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818120" y="4864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001000" y="4800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738360" y="48646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921240" y="480060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2124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5760" y="5577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65760" y="55778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576072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6327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Chains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9801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 approval sequence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live approval samples seeded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Reject with notes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 &amp; records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91840" y="5577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91840" y="55778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91840" y="5760720"/>
            <a:ext cx="274320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29000" y="56327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Inbox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429000" y="59801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approvals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approve/reject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notifications on decisions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17920" y="5577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217920" y="55778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5760720"/>
            <a:ext cx="2743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5080" y="56327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355080" y="59801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intake forms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to trigger workflows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submission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forms to task templates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144000" y="5577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144000" y="557784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00" y="5760720"/>
            <a:ext cx="27432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81160" y="56327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281160" y="59801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Entity history for all changes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changed what &amp; when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Point-in-time snapshots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 previous versions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 &amp; Timesheets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review, and approve work hours with 18 seeded entries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9436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5943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1371600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371600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371600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325880"/>
            <a:ext cx="502920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134416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1572768"/>
            <a:ext cx="59436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60934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Logging — Weekly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38528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01168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Week: 21 Apr – 27 Apr 2026       Total: 34.5h / 40h target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267712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3408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96896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7004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   Tue    Wed    Thu    Fri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99923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8h     7h     6.5h    7h    6h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32841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584448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6576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ProjectFlow Platform  ██████████████   22h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98678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v3       ████████         12.5h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242816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431596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92240" y="1280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128016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1463040"/>
            <a:ext cx="26517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1335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168249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against any task or project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picker + description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time log entries seeded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/ delete own entries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26880" y="1280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326880" y="128016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1463040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0" y="1335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64040" y="168249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view with breakdown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to manager for approval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approval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 approve / reject with note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3127248"/>
            <a:ext cx="265176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92240" y="312724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3310128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1821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29400" y="35295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By-day and by-project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Org-wide time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Utilization trends over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CSV / Excel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326880" y="3127248"/>
            <a:ext cx="265176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326880" y="312724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26880" y="3310128"/>
            <a:ext cx="26517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64040" y="31821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64040" y="35295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sees all timesheets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reject in bulk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estimated vs. logged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 planning integration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4956048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5760" y="5047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365760" y="5614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Target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80360" y="4956048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880360" y="5047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2880360" y="5614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Logs Seeded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394960" y="4956048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394960" y="5047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5394960" y="5614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09560" y="4956048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909560" y="50474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7909560" y="5614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leave management, and team attendance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Tab — Live Clock &amp;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755648"/>
            <a:ext cx="292608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81051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09:42:17 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3042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30 April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2697480"/>
            <a:ext cx="3291840" cy="530352"/>
          </a:xfrm>
          <a:prstGeom prst="roundRect">
            <a:avLst>
              <a:gd name="adj" fmla="val 17241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Clock 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22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Present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242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4242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 42m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4663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50474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0" y="5084064"/>
            <a:ext cx="3108960" cy="164592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5084064"/>
            <a:ext cx="2487168" cy="164592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504748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54681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0" y="5504688"/>
            <a:ext cx="3108960" cy="164592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5504688"/>
            <a:ext cx="2590800" cy="164592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546811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588873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0" y="5925312"/>
            <a:ext cx="3108960" cy="164592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5925312"/>
            <a:ext cx="3108960" cy="164592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588873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35040" y="1234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View Tab — Manager 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1572768"/>
            <a:ext cx="59436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572768"/>
            <a:ext cx="594360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1664208"/>
            <a:ext cx="109728" cy="109728"/>
          </a:xfrm>
          <a:prstGeom prst="ellipse">
            <a:avLst/>
          </a:prstGeom>
          <a:solidFill>
            <a:srgbClr val="FC5C57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1664208"/>
            <a:ext cx="109728" cy="109728"/>
          </a:xfrm>
          <a:prstGeom prst="ellipse">
            <a:avLst/>
          </a:prstGeom>
          <a:solidFill>
            <a:srgbClr val="FDBC2C"/>
          </a:solidFill>
          <a:ln/>
        </p:spPr>
      </p:sp>
      <p:sp>
        <p:nvSpPr>
          <p:cNvPr id="40" name="Shape 38"/>
          <p:cNvSpPr/>
          <p:nvPr/>
        </p:nvSpPr>
        <p:spPr>
          <a:xfrm>
            <a:off x="6473952" y="1664208"/>
            <a:ext cx="109728" cy="109728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1618488"/>
            <a:ext cx="5029200" cy="201168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1636776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localhost:5173 — PM Tool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035040" y="1865376"/>
            <a:ext cx="59436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190195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Attendance — 30 Apr 2026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2231136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199632" y="230428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Priya Sharma       ● Present     Clocked In: 08:48 AM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2560320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6199632" y="263347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Vikram Mehta       ● Present     Clocked In: 09:05 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2889504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199632" y="296265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Anjali Singh       ● Present     Clocked In: 08:55 AM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35040" y="3218688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6199632" y="329184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Ravi Kumar         ⌂  WFH        Marked WFH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35040" y="3547872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199632" y="362102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Sunita Reddy       ✈  On Leave   Sick Leave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35040" y="3877056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6199632" y="395020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─ ─ ─ ─ ─ ─ TEAM STATS ─ ─ ─ ─ ─ ─ ─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35040" y="4206240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199632" y="427939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Present: 3   ⌂ WFH: 1   ✈ Leave: 1   ✗ Absent: 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35040" y="4535424"/>
            <a:ext cx="594360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6199632" y="460857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history seeded for all 5 users   •   Leave balance tracked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62636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760" y="62636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446520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6318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2920" y="666597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Sick / Casual / Earned / WFH / Half-day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picker + reason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Leave history log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0400" y="62636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00400" y="62636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6446520"/>
            <a:ext cx="26517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37560" y="6318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337560" y="666597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Color-coded status per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 navigator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stats row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035040" y="62636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035040" y="62636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35040" y="6446520"/>
            <a:ext cx="26517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6318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Grid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172200" y="666597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7-day status grid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Hours worked per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navigation arrows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869680" y="62636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869680" y="62636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69680" y="644652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06840" y="6318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006840" y="666597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Zustand persist 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30-day seeded history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API-ready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Timeline &amp; Feature Configuration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project timeline, role-based feature flags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Timeline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713232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72768"/>
            <a:ext cx="713232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367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7784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1636776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938528"/>
            <a:ext cx="71323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04825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nav component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0" y="2029968"/>
            <a:ext cx="740664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420624" y="2048256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2066544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71323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4871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 flow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2468880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" y="2487168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" y="2505456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365760" y="2816352"/>
            <a:ext cx="71323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92608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32888" y="290779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420624" y="2926080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" y="2944368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65760" y="3255264"/>
            <a:ext cx="71323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36499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68296" y="3346704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20624" y="336499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" y="3383280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365760" y="3694176"/>
            <a:ext cx="71323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80390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– Auth screens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79776" y="37856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/>
        </p:spPr>
      </p:sp>
      <p:sp>
        <p:nvSpPr>
          <p:cNvPr id="41" name="Shape 39"/>
          <p:cNvSpPr/>
          <p:nvPr/>
        </p:nvSpPr>
        <p:spPr>
          <a:xfrm>
            <a:off x="420624" y="3803904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" y="3822192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365760" y="4133088"/>
            <a:ext cx="71323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24281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Lead Campaign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0" y="4224528"/>
            <a:ext cx="2139696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46" name="Shape 44"/>
          <p:cNvSpPr/>
          <p:nvPr/>
        </p:nvSpPr>
        <p:spPr>
          <a:xfrm>
            <a:off x="420624" y="4242816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" y="4261104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71323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68172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 2026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0" y="4663440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51" name="Shape 49"/>
          <p:cNvSpPr/>
          <p:nvPr/>
        </p:nvSpPr>
        <p:spPr>
          <a:xfrm>
            <a:off x="420624" y="4681728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420624" y="4700016"/>
            <a:ext cx="347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3035808" y="1572768"/>
            <a:ext cx="27432" cy="42245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2907792" y="57058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400800" y="5815584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584301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040880" y="5815584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40880" y="584301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680960" y="5815584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7680960" y="584301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680960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— Role Configuration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680960" y="1572768"/>
            <a:ext cx="429768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680960" y="1572768"/>
            <a:ext cx="429768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4" name="Text 62"/>
          <p:cNvSpPr/>
          <p:nvPr/>
        </p:nvSpPr>
        <p:spPr>
          <a:xfrm>
            <a:off x="7818120" y="163677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235440" y="16367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902952" y="16367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570464" y="16367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237976" y="163677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680960" y="1938528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7818120" y="20482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345168" y="20574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9345168" y="20756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012680" y="20574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10012680" y="20756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680192" y="20574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10680192" y="20756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1347704" y="205740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8" name="Text 76"/>
          <p:cNvSpPr/>
          <p:nvPr/>
        </p:nvSpPr>
        <p:spPr>
          <a:xfrm>
            <a:off x="11347704" y="20756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680960" y="2377440"/>
            <a:ext cx="42976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7818120" y="24871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Timeline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345168" y="24963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9345168" y="251460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012680" y="24963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10012680" y="251460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0680192" y="2496312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6" name="Text 84"/>
          <p:cNvSpPr/>
          <p:nvPr/>
        </p:nvSpPr>
        <p:spPr>
          <a:xfrm>
            <a:off x="10680192" y="251460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1347704" y="2496312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8" name="Text 86"/>
          <p:cNvSpPr/>
          <p:nvPr/>
        </p:nvSpPr>
        <p:spPr>
          <a:xfrm>
            <a:off x="11347704" y="251460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680960" y="2816352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7818120" y="29260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345168" y="29352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2" name="Text 90"/>
          <p:cNvSpPr/>
          <p:nvPr/>
        </p:nvSpPr>
        <p:spPr>
          <a:xfrm>
            <a:off x="9345168" y="29535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0012680" y="29352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Text 92"/>
          <p:cNvSpPr/>
          <p:nvPr/>
        </p:nvSpPr>
        <p:spPr>
          <a:xfrm>
            <a:off x="10012680" y="29535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0680192" y="29352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6" name="Text 94"/>
          <p:cNvSpPr/>
          <p:nvPr/>
        </p:nvSpPr>
        <p:spPr>
          <a:xfrm>
            <a:off x="10680192" y="29535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1347704" y="2935224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8" name="Text 96"/>
          <p:cNvSpPr/>
          <p:nvPr/>
        </p:nvSpPr>
        <p:spPr>
          <a:xfrm>
            <a:off x="11347704" y="29535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680960" y="3255264"/>
            <a:ext cx="42976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0" name="Text 98"/>
          <p:cNvSpPr/>
          <p:nvPr/>
        </p:nvSpPr>
        <p:spPr>
          <a:xfrm>
            <a:off x="7818120" y="3364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9345168" y="33741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2" name="Text 100"/>
          <p:cNvSpPr/>
          <p:nvPr/>
        </p:nvSpPr>
        <p:spPr>
          <a:xfrm>
            <a:off x="9345168" y="339242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0012680" y="33741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012680" y="339242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0680192" y="3374136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680192" y="339242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1347704" y="3374136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08" name="Text 106"/>
          <p:cNvSpPr/>
          <p:nvPr/>
        </p:nvSpPr>
        <p:spPr>
          <a:xfrm>
            <a:off x="11347704" y="339242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7680960" y="3694176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7818120" y="38039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345168" y="38130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2" name="Text 110"/>
          <p:cNvSpPr/>
          <p:nvPr/>
        </p:nvSpPr>
        <p:spPr>
          <a:xfrm>
            <a:off x="9345168" y="383133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10012680" y="38130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4" name="Text 112"/>
          <p:cNvSpPr/>
          <p:nvPr/>
        </p:nvSpPr>
        <p:spPr>
          <a:xfrm>
            <a:off x="10012680" y="383133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10680192" y="3813048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680192" y="383133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1347704" y="3813048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18" name="Text 116"/>
          <p:cNvSpPr/>
          <p:nvPr/>
        </p:nvSpPr>
        <p:spPr>
          <a:xfrm>
            <a:off x="11347704" y="383133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680960" y="4133088"/>
            <a:ext cx="42976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7818120" y="42428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9345168" y="42519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2" name="Text 120"/>
          <p:cNvSpPr/>
          <p:nvPr/>
        </p:nvSpPr>
        <p:spPr>
          <a:xfrm>
            <a:off x="9345168" y="42702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0012680" y="425196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12680" y="42702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0680192" y="425196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6" name="Text 124"/>
          <p:cNvSpPr/>
          <p:nvPr/>
        </p:nvSpPr>
        <p:spPr>
          <a:xfrm>
            <a:off x="10680192" y="42702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1347704" y="4251960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28" name="Text 126"/>
          <p:cNvSpPr/>
          <p:nvPr/>
        </p:nvSpPr>
        <p:spPr>
          <a:xfrm>
            <a:off x="11347704" y="42702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7680960" y="4572000"/>
            <a:ext cx="4297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8"/>
          <p:cNvSpPr/>
          <p:nvPr/>
        </p:nvSpPr>
        <p:spPr>
          <a:xfrm>
            <a:off x="7818120" y="4681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9345168" y="469087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2" name="Text 130"/>
          <p:cNvSpPr/>
          <p:nvPr/>
        </p:nvSpPr>
        <p:spPr>
          <a:xfrm>
            <a:off x="9345168" y="470916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12680" y="4690872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4" name="Text 132"/>
          <p:cNvSpPr/>
          <p:nvPr/>
        </p:nvSpPr>
        <p:spPr>
          <a:xfrm>
            <a:off x="10012680" y="470916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0680192" y="4690872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6" name="Text 134"/>
          <p:cNvSpPr/>
          <p:nvPr/>
        </p:nvSpPr>
        <p:spPr>
          <a:xfrm>
            <a:off x="10680192" y="470916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11347704" y="469087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8" name="Text 136"/>
          <p:cNvSpPr/>
          <p:nvPr/>
        </p:nvSpPr>
        <p:spPr>
          <a:xfrm>
            <a:off x="11347704" y="470916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7680960" y="5010912"/>
            <a:ext cx="42976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7818120" y="51206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9345168" y="512978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2" name="Text 140"/>
          <p:cNvSpPr/>
          <p:nvPr/>
        </p:nvSpPr>
        <p:spPr>
          <a:xfrm>
            <a:off x="9345168" y="514807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10012680" y="5129784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44" name="Text 142"/>
          <p:cNvSpPr/>
          <p:nvPr/>
        </p:nvSpPr>
        <p:spPr>
          <a:xfrm>
            <a:off x="10012680" y="514807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0680192" y="5129784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46" name="Text 144"/>
          <p:cNvSpPr/>
          <p:nvPr/>
        </p:nvSpPr>
        <p:spPr>
          <a:xfrm>
            <a:off x="10680192" y="514807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11347704" y="5129784"/>
            <a:ext cx="201168" cy="20116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48" name="Text 146"/>
          <p:cNvSpPr/>
          <p:nvPr/>
        </p:nvSpPr>
        <p:spPr>
          <a:xfrm>
            <a:off x="11347704" y="514807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7818120" y="56509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always has full access to all features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365760" y="6492240"/>
            <a:ext cx="11430000" cy="27432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151" name="Text 149"/>
          <p:cNvSpPr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Gantt: Day/Week/Month zoom · Today-line · Priority-colored bars   |   Feature Flags: 24 flags · 4 categories · Toggle per role · Auto-save · Reset to defaults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Capacity Planning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 into project health and team utilization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642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60020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6642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642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60020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6642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993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ProjectFlow 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1993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98424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029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993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395728"/>
            <a:ext cx="56692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468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Platform v3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2468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2459736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5054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4688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44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Lead Campaign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2944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935224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29809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29443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346704"/>
            <a:ext cx="56692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4198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34198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41071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34564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4198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822192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389534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28800" y="389534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8862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3246120" y="39319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89534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= 40% Progress + 30% Budget Efficiency + 30% Blocked Task Penalty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0" y="126187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— Utilization Heatmap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7824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05840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46520" y="19933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98080" y="1993392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778240" y="1993392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77824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058400" y="1993392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1338560" y="1993392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1133856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Singh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498080" y="26517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778240" y="26517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877824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058400" y="26517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68" name="Text 66"/>
          <p:cNvSpPr/>
          <p:nvPr/>
        </p:nvSpPr>
        <p:spPr>
          <a:xfrm>
            <a:off x="1005840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1338560" y="26517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1133856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46520" y="33101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Mehta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98080" y="331012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7498080" y="34198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778240" y="331012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75" name="Text 73"/>
          <p:cNvSpPr/>
          <p:nvPr/>
        </p:nvSpPr>
        <p:spPr>
          <a:xfrm>
            <a:off x="8778240" y="34198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058400" y="331012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10058400" y="34198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338560" y="331012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79" name="Text 77"/>
          <p:cNvSpPr/>
          <p:nvPr/>
        </p:nvSpPr>
        <p:spPr>
          <a:xfrm>
            <a:off x="11338560" y="34198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446520" y="422452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81" name="Text 79"/>
          <p:cNvSpPr/>
          <p:nvPr/>
        </p:nvSpPr>
        <p:spPr>
          <a:xfrm>
            <a:off x="644652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818120" y="422452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83" name="Text 81"/>
          <p:cNvSpPr/>
          <p:nvPr/>
        </p:nvSpPr>
        <p:spPr>
          <a:xfrm>
            <a:off x="781812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89720" y="422452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85" name="Text 83"/>
          <p:cNvSpPr/>
          <p:nvPr/>
        </p:nvSpPr>
        <p:spPr>
          <a:xfrm>
            <a:off x="918972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561320" y="422452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87" name="Text 85"/>
          <p:cNvSpPr/>
          <p:nvPr/>
        </p:nvSpPr>
        <p:spPr>
          <a:xfrm>
            <a:off x="1056132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" y="482803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65760" y="482803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" y="5010912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4882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502920" y="523036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projects in one health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vs. actual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division or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Drill-down per project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91840" y="482803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291840" y="482803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91840" y="5010912"/>
            <a:ext cx="27432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29000" y="4882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429000" y="523036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/ 4 / 8 week view toggle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Per-member workload cards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Over-utilization alerts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allocation planning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400800" y="482803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6400800" y="482803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00800" y="5010912"/>
            <a:ext cx="27432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37960" y="4882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537960" y="523036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Upcoming sprint capacity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Cross-project member allocation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Availability vs. demand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Exportable capacity reports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326880" y="4828032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9326880" y="482803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326880" y="5010912"/>
            <a:ext cx="274320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464040" y="4882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464040" y="5230368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project roadmap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Milestone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Dependency highlights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Executive-ready summary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&amp; OKRs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visibility for leadership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Divisions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2801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8036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2801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8B5C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496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128016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0956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5176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34640"/>
            <a:ext cx="34747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06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054096"/>
            <a:ext cx="32004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&amp; division-level OKRs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Results with % progress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Q1–Q4 quarterly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KR update by manager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23360" y="26517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0" y="265176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2834640"/>
            <a:ext cx="3474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706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Scorecards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3054096"/>
            <a:ext cx="32004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Health: Green / Amber / 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Completion %, overdue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utilization bars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vs. previous period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26517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0" y="265176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2834640"/>
            <a:ext cx="34747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706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18120" y="3054096"/>
            <a:ext cx="32004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size per division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Billable vs non-billable hours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 vs. demand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Exportable reports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645152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645152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828032"/>
            <a:ext cx="34747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700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Rollup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5047488"/>
            <a:ext cx="3200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Org-wide KPI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Alerts for at-risk divisions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Velocity trends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comparison chart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23360" y="4645152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23360" y="4645152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4828032"/>
            <a:ext cx="347472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4700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5047488"/>
            <a:ext cx="3200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5 projects in one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division /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matrix at a glance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Drill-down per project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4645152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680960" y="4645152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4828032"/>
            <a:ext cx="347472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4700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18120" y="5047488"/>
            <a:ext cx="32004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role = read-only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accidental modifications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/ CSV export options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reports externally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notifications, exports, AI, integrations &amp; more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26517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80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2821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tasks &amp; projects instantly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in &lt; 200ms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type (task/project)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Keyboard shortcut: ⌘K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508760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380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72821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seeded notification samples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individual / all as read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notifications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Auto-polls every 30 seconds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3258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50876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80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72821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/ Excel / PDF export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tasks and project summaries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before export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69680" y="13258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69680" y="132588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1508760"/>
            <a:ext cx="26517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1380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172821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Powered by Claude (Anthropic)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description suggestions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goal recommendations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report drafting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204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03320"/>
            <a:ext cx="265176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75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92277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Tasks plotted by due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/ weekly calendar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task to open detail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Color-coded by project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520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5204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703320"/>
            <a:ext cx="26517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575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392277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flags across 4 categories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Toggle access per role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 Admin always has full access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Auto-save + reset to defaults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3520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35204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703320"/>
            <a:ext cx="26517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575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92277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custom roles seeded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granular permission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to org members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Lead / Auditor / Contractor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869680" y="35204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869680" y="35204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69680" y="370332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6840" y="3575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365 Integration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06840" y="3922776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Outlook calendar sync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Teams notification support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AD authentication (prod)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OneDrive attachment storage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5742432"/>
            <a:ext cx="1143000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81558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Enterprise Security:   JWT auth · Refresh token rotation · Rate limiting (100 req/min) · Helmet.js headers · CORS whitelisting · bcrypt password hashing · HTTPS (prod)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 full-stack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298448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72768"/>
            <a:ext cx="269748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883664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975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578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 (103 hooks)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90672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94176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persist stores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Router v6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1298448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1298448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1572768"/>
            <a:ext cx="269748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29000" y="1883664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1975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29000" y="2487168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2578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stores (dev mode)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3090672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→ PostgreSQL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29000" y="3694176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rotation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429768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request validation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1298448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1298448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6217920" y="1572768"/>
            <a:ext cx="269748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1883664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975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(prod)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2487168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578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(caching &amp; queues)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3090672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job queues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3694176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seed.js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429768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Prisma models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144000" y="1298448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1F5F9"/>
          </a:solidFill>
          <a:ln/>
        </p:spPr>
      </p:sp>
      <p:sp>
        <p:nvSpPr>
          <p:cNvPr id="51" name="Shape 49"/>
          <p:cNvSpPr/>
          <p:nvPr/>
        </p:nvSpPr>
        <p:spPr>
          <a:xfrm>
            <a:off x="9144000" y="1298448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8B5CF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44000" y="1572768"/>
            <a:ext cx="269748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9253728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281160" y="1883664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00032" y="1975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security headers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81160" y="2487168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0032" y="2578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origin whitelisting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281160" y="3090672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00032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(100/min)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281160" y="3694176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00032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281160" y="429768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00032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Secure cookies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5321808"/>
            <a:ext cx="11430000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Current Status: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468880" y="537667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modules are fully functional in development mode. Comprehensive seed data seeded (20 tasks, 5 projects, 10 sprints, 4 workflow types, 18 time logs, 4 approvals, 8 activity logs). Production deployment requires running database migration via Prisma and Redis configuration — codebase is fully production-ready.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— 3 phases complete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105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 — Enterprise PM Tool   | 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61872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72768"/>
            <a:ext cx="2743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31673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16184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" y="1938528"/>
            <a:ext cx="2523744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993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✅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359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 &amp; user management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&amp; task CRUD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Kanban board with drag-drop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169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management (10 sprints)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773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Division management hierarchy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workflows &amp; approval chains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1261872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261872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1572768"/>
            <a:ext cx="27432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131673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47288" y="16184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Apr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47288" y="1938528"/>
            <a:ext cx="2523744" cy="2743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1993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✅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02152" y="2359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tracking &amp; timesheets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02152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 health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2152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Capacity planning heatmap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2152" y="4169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OKR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02152" y="4773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search &amp; notifications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02152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roles, exports, AI features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1261872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1261872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1572768"/>
            <a:ext cx="274320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131673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19088" y="16184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19088" y="1938528"/>
            <a:ext cx="2523744" cy="274320"/>
          </a:xfrm>
          <a:prstGeom prst="roundRect">
            <a:avLst>
              <a:gd name="adj" fmla="val 20000"/>
            </a:avLst>
          </a:prstGeom>
          <a:solidFill>
            <a:srgbClr val="CFFAFE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1993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✅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73952" y="2359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tracking with live clock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73952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Gantt timeline (Day/Week/Month zoom)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73952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feature flags + role configuration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73952" y="4169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wizard (5-step)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73952" y="4773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seed data (all modules)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73952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suite (utils, StatCard, Button, Modal)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281160" y="1261872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81160" y="1261872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9281160" y="1572768"/>
            <a:ext cx="2743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9390888" y="131673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90888" y="16184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 2026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390888" y="1938528"/>
            <a:ext cx="2523744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53" name="Text 51"/>
          <p:cNvSpPr/>
          <p:nvPr/>
        </p:nvSpPr>
        <p:spPr>
          <a:xfrm>
            <a:off x="9390888" y="1993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🔄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445752" y="2359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PostgreSQL DB migration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45752" y="2962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Gmail / SMTP email delivery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445752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 365 / Azure AD SSO integration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445752" y="4169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audit &amp; penetration testing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445752" y="4773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optimization + CDN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445752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mobile app (React Native)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2103120"/>
          </a:xfrm>
          <a:prstGeom prst="rect">
            <a:avLst/>
          </a:prstGeom>
          <a:solidFill>
            <a:srgbClr val="152B4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64592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priyanka.bansal@qcin.org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85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23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PM Tool — v2.0  |  April 30,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10972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607040" y="10972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2D5FA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20116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07040" y="20116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2D5FA3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704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61120" y="29260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07040" y="29260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2D5FA3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0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0" y="38404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4041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607040" y="38404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2D5FA3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40416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61120" y="47548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0" y="4956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607040" y="475488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2D5FA3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4956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QCI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Project Management Tool</dc:title>
  <dc:subject>Enterprise PM Tool</dc:subject>
  <dc:creator>Quality Council of India</dc:creator>
  <cp:lastModifiedBy>Quality Council of India</cp:lastModifiedBy>
  <cp:revision>1</cp:revision>
  <dcterms:created xsi:type="dcterms:W3CDTF">2026-04-30T02:47:50Z</dcterms:created>
  <dcterms:modified xsi:type="dcterms:W3CDTF">2026-04-30T02:47:50Z</dcterms:modified>
</cp:coreProperties>
</file>