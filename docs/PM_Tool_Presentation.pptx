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114800"/>
            <a:ext cx="12192000" cy="2743200"/>
          </a:xfrm>
          <a:prstGeom prst="rect">
            <a:avLst/>
          </a:prstGeom>
          <a:solidFill>
            <a:srgbClr val="152B4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2560320"/>
            <a:ext cx="164592" cy="18288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97280"/>
            <a:ext cx="73152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Project</a:t>
            </a:r>
            <a:endParaRPr lang="en-US" sz="3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Tool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F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comprehensive SaaS platform for multi-division enterprise project delivery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3401568"/>
            <a:ext cx="32004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3520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Council of India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9319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2026   |   Confidential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412480" y="914400"/>
            <a:ext cx="3474720" cy="4754880"/>
          </a:xfrm>
          <a:prstGeom prst="roundRect">
            <a:avLst>
              <a:gd name="adj" fmla="val 5263"/>
            </a:avLst>
          </a:prstGeom>
          <a:solidFill>
            <a:srgbClr val="253E5E"/>
          </a:solidFill>
          <a:ln/>
        </p:spPr>
      </p:sp>
      <p:sp>
        <p:nvSpPr>
          <p:cNvPr id="11" name="Shape 9"/>
          <p:cNvSpPr/>
          <p:nvPr/>
        </p:nvSpPr>
        <p:spPr>
          <a:xfrm>
            <a:off x="8595360" y="1097280"/>
            <a:ext cx="3108960" cy="4389120"/>
          </a:xfrm>
          <a:prstGeom prst="roundRect">
            <a:avLst>
              <a:gd name="adj" fmla="val 3529"/>
            </a:avLst>
          </a:prstGeom>
          <a:solidFill>
            <a:srgbClr val="1A2E44"/>
          </a:solidFill>
          <a:ln/>
        </p:spPr>
      </p:sp>
      <p:sp>
        <p:nvSpPr>
          <p:cNvPr id="12" name="Shape 10"/>
          <p:cNvSpPr/>
          <p:nvPr/>
        </p:nvSpPr>
        <p:spPr>
          <a:xfrm>
            <a:off x="8686800" y="1280160"/>
            <a:ext cx="1371600" cy="777240"/>
          </a:xfrm>
          <a:prstGeom prst="roundRect">
            <a:avLst>
              <a:gd name="adj" fmla="val 11765"/>
            </a:avLst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0" y="1426464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0195560" y="1280160"/>
            <a:ext cx="1371600" cy="777240"/>
          </a:xfrm>
          <a:prstGeom prst="roundRect">
            <a:avLst>
              <a:gd name="adj" fmla="val 11765"/>
            </a:avLst>
          </a:prstGeom>
          <a:solidFill>
            <a:srgbClr val="2D5FA3"/>
          </a:solidFill>
          <a:ln/>
        </p:spPr>
      </p:sp>
      <p:sp>
        <p:nvSpPr>
          <p:cNvPr id="15" name="Text 13"/>
          <p:cNvSpPr/>
          <p:nvPr/>
        </p:nvSpPr>
        <p:spPr>
          <a:xfrm>
            <a:off x="10195560" y="1426464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686800" y="2286000"/>
            <a:ext cx="1371600" cy="777240"/>
          </a:xfrm>
          <a:prstGeom prst="roundRect">
            <a:avLst>
              <a:gd name="adj" fmla="val 11765"/>
            </a:avLst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0" y="2432304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0195560" y="2286000"/>
            <a:ext cx="1371600" cy="777240"/>
          </a:xfrm>
          <a:prstGeom prst="roundRect">
            <a:avLst>
              <a:gd name="adj" fmla="val 11765"/>
            </a:avLst>
          </a:prstGeom>
          <a:solidFill>
            <a:srgbClr val="2D5FA3"/>
          </a:solidFill>
          <a:ln/>
        </p:spPr>
      </p:sp>
      <p:sp>
        <p:nvSpPr>
          <p:cNvPr id="19" name="Text 17"/>
          <p:cNvSpPr/>
          <p:nvPr/>
        </p:nvSpPr>
        <p:spPr>
          <a:xfrm>
            <a:off x="10195560" y="2432304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Tasks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8686800" y="3291840"/>
            <a:ext cx="1371600" cy="777240"/>
          </a:xfrm>
          <a:prstGeom prst="roundRect">
            <a:avLst>
              <a:gd name="adj" fmla="val 11765"/>
            </a:avLst>
          </a:prstGeom>
          <a:solidFill>
            <a:srgbClr val="3B82F6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0" y="3438144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0195560" y="3291840"/>
            <a:ext cx="1371600" cy="777240"/>
          </a:xfrm>
          <a:prstGeom prst="roundRect">
            <a:avLst>
              <a:gd name="adj" fmla="val 11765"/>
            </a:avLst>
          </a:prstGeom>
          <a:solidFill>
            <a:srgbClr val="2D5FA3"/>
          </a:solidFill>
          <a:ln/>
        </p:spPr>
      </p:sp>
      <p:sp>
        <p:nvSpPr>
          <p:cNvPr id="23" name="Text 21"/>
          <p:cNvSpPr/>
          <p:nvPr/>
        </p:nvSpPr>
        <p:spPr>
          <a:xfrm>
            <a:off x="10195560" y="3438144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686800" y="4297680"/>
            <a:ext cx="1371600" cy="777240"/>
          </a:xfrm>
          <a:prstGeom prst="roundRect">
            <a:avLst>
              <a:gd name="adj" fmla="val 11765"/>
            </a:avLst>
          </a:prstGeom>
          <a:solidFill>
            <a:srgbClr val="3B82F6"/>
          </a:solidFill>
          <a:ln/>
        </p:spPr>
      </p:sp>
      <p:sp>
        <p:nvSpPr>
          <p:cNvPr id="25" name="Text 23"/>
          <p:cNvSpPr/>
          <p:nvPr/>
        </p:nvSpPr>
        <p:spPr>
          <a:xfrm>
            <a:off x="8686800" y="4443984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0195560" y="4297680"/>
            <a:ext cx="1371600" cy="777240"/>
          </a:xfrm>
          <a:prstGeom prst="roundRect">
            <a:avLst>
              <a:gd name="adj" fmla="val 11765"/>
            </a:avLst>
          </a:prstGeom>
          <a:solidFill>
            <a:srgbClr val="2D5FA3"/>
          </a:solidFill>
          <a:ln/>
        </p:spPr>
      </p:sp>
      <p:sp>
        <p:nvSpPr>
          <p:cNvPr id="27" name="Text 25"/>
          <p:cNvSpPr/>
          <p:nvPr/>
        </p:nvSpPr>
        <p:spPr>
          <a:xfrm>
            <a:off x="10195560" y="4443984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09728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58368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will cover today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51052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Council of India — Enterprise PM Tool   |   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704320" y="65105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1280160"/>
            <a:ext cx="5394960" cy="749808"/>
          </a:xfrm>
          <a:prstGeom prst="roundRect">
            <a:avLst>
              <a:gd name="adj" fmla="val 9756"/>
            </a:avLst>
          </a:prstGeom>
          <a:solidFill>
            <a:srgbClr val="F1F5F9"/>
          </a:solidFill>
          <a:ln/>
        </p:spPr>
      </p:sp>
      <p:sp>
        <p:nvSpPr>
          <p:cNvPr id="9" name="Shape 7"/>
          <p:cNvSpPr/>
          <p:nvPr/>
        </p:nvSpPr>
        <p:spPr>
          <a:xfrm>
            <a:off x="365760" y="1280160"/>
            <a:ext cx="502920" cy="749808"/>
          </a:xfrm>
          <a:prstGeom prst="roundRect">
            <a:avLst>
              <a:gd name="adj" fmla="val 14545"/>
            </a:avLst>
          </a:prstGeom>
          <a:solidFill>
            <a:srgbClr val="3B82F6"/>
          </a:solidFill>
          <a:ln/>
        </p:spPr>
      </p:sp>
      <p:sp>
        <p:nvSpPr>
          <p:cNvPr id="10" name="Shape 8"/>
          <p:cNvSpPr/>
          <p:nvPr/>
        </p:nvSpPr>
        <p:spPr>
          <a:xfrm>
            <a:off x="694944" y="1280160"/>
            <a:ext cx="182880" cy="7498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463040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0120" y="1353312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Overview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1664208"/>
            <a:ext cx="4663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addressed and system goals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65760" y="2194560"/>
            <a:ext cx="5394960" cy="749808"/>
          </a:xfrm>
          <a:prstGeom prst="roundRect">
            <a:avLst>
              <a:gd name="adj" fmla="val 9756"/>
            </a:avLst>
          </a:prstGeom>
          <a:solidFill>
            <a:srgbClr val="F1F5F9"/>
          </a:solidFill>
          <a:ln/>
        </p:spPr>
      </p:sp>
      <p:sp>
        <p:nvSpPr>
          <p:cNvPr id="15" name="Shape 13"/>
          <p:cNvSpPr/>
          <p:nvPr/>
        </p:nvSpPr>
        <p:spPr>
          <a:xfrm>
            <a:off x="365760" y="2194560"/>
            <a:ext cx="502920" cy="749808"/>
          </a:xfrm>
          <a:prstGeom prst="roundRect">
            <a:avLst>
              <a:gd name="adj" fmla="val 14545"/>
            </a:avLst>
          </a:prstGeom>
          <a:solidFill>
            <a:srgbClr val="3B82F6"/>
          </a:solidFill>
          <a:ln/>
        </p:spPr>
      </p:sp>
      <p:sp>
        <p:nvSpPr>
          <p:cNvPr id="16" name="Shape 14"/>
          <p:cNvSpPr/>
          <p:nvPr/>
        </p:nvSpPr>
        <p:spPr>
          <a:xfrm>
            <a:off x="694944" y="2194560"/>
            <a:ext cx="182880" cy="7498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2377440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60120" y="2267712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Roles &amp; Access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60120" y="2578608"/>
            <a:ext cx="4663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6-tier role-based access control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65760" y="3108960"/>
            <a:ext cx="5394960" cy="749808"/>
          </a:xfrm>
          <a:prstGeom prst="roundRect">
            <a:avLst>
              <a:gd name="adj" fmla="val 9756"/>
            </a:avLst>
          </a:prstGeom>
          <a:solidFill>
            <a:srgbClr val="F1F5F9"/>
          </a:solidFill>
          <a:ln/>
        </p:spPr>
      </p:sp>
      <p:sp>
        <p:nvSpPr>
          <p:cNvPr id="21" name="Shape 19"/>
          <p:cNvSpPr/>
          <p:nvPr/>
        </p:nvSpPr>
        <p:spPr>
          <a:xfrm>
            <a:off x="365760" y="3108960"/>
            <a:ext cx="502920" cy="749808"/>
          </a:xfrm>
          <a:prstGeom prst="roundRect">
            <a:avLst>
              <a:gd name="adj" fmla="val 14545"/>
            </a:avLst>
          </a:prstGeom>
          <a:solidFill>
            <a:srgbClr val="3B82F6"/>
          </a:solidFill>
          <a:ln/>
        </p:spPr>
      </p:sp>
      <p:sp>
        <p:nvSpPr>
          <p:cNvPr id="22" name="Shape 20"/>
          <p:cNvSpPr/>
          <p:nvPr/>
        </p:nvSpPr>
        <p:spPr>
          <a:xfrm>
            <a:off x="694944" y="3108960"/>
            <a:ext cx="182880" cy="7498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3291840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60120" y="3182112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PM Features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60120" y="3493008"/>
            <a:ext cx="4663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Projects, Kanban, Sprints, Tasks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65760" y="4023360"/>
            <a:ext cx="5394960" cy="749808"/>
          </a:xfrm>
          <a:prstGeom prst="roundRect">
            <a:avLst>
              <a:gd name="adj" fmla="val 9756"/>
            </a:avLst>
          </a:prstGeom>
          <a:solidFill>
            <a:srgbClr val="F1F5F9"/>
          </a:solidFill>
          <a:ln/>
        </p:spPr>
      </p:sp>
      <p:sp>
        <p:nvSpPr>
          <p:cNvPr id="27" name="Shape 25"/>
          <p:cNvSpPr/>
          <p:nvPr/>
        </p:nvSpPr>
        <p:spPr>
          <a:xfrm>
            <a:off x="365760" y="4023360"/>
            <a:ext cx="502920" cy="749808"/>
          </a:xfrm>
          <a:prstGeom prst="roundRect">
            <a:avLst>
              <a:gd name="adj" fmla="val 14545"/>
            </a:avLst>
          </a:prstGeom>
          <a:solidFill>
            <a:srgbClr val="3B82F6"/>
          </a:solidFill>
          <a:ln/>
        </p:spPr>
      </p:sp>
      <p:sp>
        <p:nvSpPr>
          <p:cNvPr id="28" name="Shape 26"/>
          <p:cNvSpPr/>
          <p:nvPr/>
        </p:nvSpPr>
        <p:spPr>
          <a:xfrm>
            <a:off x="694944" y="4023360"/>
            <a:ext cx="182880" cy="7498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9" name="Text 27"/>
          <p:cNvSpPr/>
          <p:nvPr/>
        </p:nvSpPr>
        <p:spPr>
          <a:xfrm>
            <a:off x="365760" y="4206240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60120" y="4096512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&amp; Division Mgmt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960120" y="4407408"/>
            <a:ext cx="4663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onboarding, divisions, permissions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65760" y="4937760"/>
            <a:ext cx="5394960" cy="749808"/>
          </a:xfrm>
          <a:prstGeom prst="roundRect">
            <a:avLst>
              <a:gd name="adj" fmla="val 9756"/>
            </a:avLst>
          </a:prstGeom>
          <a:solidFill>
            <a:srgbClr val="F1F5F9"/>
          </a:solidFill>
          <a:ln/>
        </p:spPr>
      </p:sp>
      <p:sp>
        <p:nvSpPr>
          <p:cNvPr id="33" name="Shape 31"/>
          <p:cNvSpPr/>
          <p:nvPr/>
        </p:nvSpPr>
        <p:spPr>
          <a:xfrm>
            <a:off x="365760" y="4937760"/>
            <a:ext cx="502920" cy="749808"/>
          </a:xfrm>
          <a:prstGeom prst="roundRect">
            <a:avLst>
              <a:gd name="adj" fmla="val 14545"/>
            </a:avLst>
          </a:prstGeom>
          <a:solidFill>
            <a:srgbClr val="3B82F6"/>
          </a:solidFill>
          <a:ln/>
        </p:spPr>
      </p:sp>
      <p:sp>
        <p:nvSpPr>
          <p:cNvPr id="34" name="Shape 32"/>
          <p:cNvSpPr/>
          <p:nvPr/>
        </p:nvSpPr>
        <p:spPr>
          <a:xfrm>
            <a:off x="694944" y="4937760"/>
            <a:ext cx="182880" cy="7498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5" name="Text 33"/>
          <p:cNvSpPr/>
          <p:nvPr/>
        </p:nvSpPr>
        <p:spPr>
          <a:xfrm>
            <a:off x="365760" y="5120640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60120" y="5010912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&amp; Approvals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960120" y="5321808"/>
            <a:ext cx="4663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workflows, approval chains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217920" y="1280160"/>
            <a:ext cx="5394960" cy="749808"/>
          </a:xfrm>
          <a:prstGeom prst="roundRect">
            <a:avLst>
              <a:gd name="adj" fmla="val 9756"/>
            </a:avLst>
          </a:prstGeom>
          <a:solidFill>
            <a:srgbClr val="F1F5F9"/>
          </a:solidFill>
          <a:ln/>
        </p:spPr>
      </p:sp>
      <p:sp>
        <p:nvSpPr>
          <p:cNvPr id="39" name="Shape 37"/>
          <p:cNvSpPr/>
          <p:nvPr/>
        </p:nvSpPr>
        <p:spPr>
          <a:xfrm>
            <a:off x="6217920" y="1280160"/>
            <a:ext cx="502920" cy="749808"/>
          </a:xfrm>
          <a:prstGeom prst="roundRect">
            <a:avLst>
              <a:gd name="adj" fmla="val 14545"/>
            </a:avLst>
          </a:prstGeom>
          <a:solidFill>
            <a:srgbClr val="3B82F6"/>
          </a:solidFill>
          <a:ln/>
        </p:spPr>
      </p:sp>
      <p:sp>
        <p:nvSpPr>
          <p:cNvPr id="40" name="Shape 38"/>
          <p:cNvSpPr/>
          <p:nvPr/>
        </p:nvSpPr>
        <p:spPr>
          <a:xfrm>
            <a:off x="6547104" y="1280160"/>
            <a:ext cx="182880" cy="7498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1" name="Text 39"/>
          <p:cNvSpPr/>
          <p:nvPr/>
        </p:nvSpPr>
        <p:spPr>
          <a:xfrm>
            <a:off x="6217920" y="1463040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812280" y="1353312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Tracking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812280" y="1664208"/>
            <a:ext cx="4663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Timesheets, logging, approvals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217920" y="2194560"/>
            <a:ext cx="5394960" cy="749808"/>
          </a:xfrm>
          <a:prstGeom prst="roundRect">
            <a:avLst>
              <a:gd name="adj" fmla="val 9756"/>
            </a:avLst>
          </a:prstGeom>
          <a:solidFill>
            <a:srgbClr val="F1F5F9"/>
          </a:solidFill>
          <a:ln/>
        </p:spPr>
      </p:sp>
      <p:sp>
        <p:nvSpPr>
          <p:cNvPr id="45" name="Shape 43"/>
          <p:cNvSpPr/>
          <p:nvPr/>
        </p:nvSpPr>
        <p:spPr>
          <a:xfrm>
            <a:off x="6217920" y="2194560"/>
            <a:ext cx="502920" cy="749808"/>
          </a:xfrm>
          <a:prstGeom prst="roundRect">
            <a:avLst>
              <a:gd name="adj" fmla="val 14545"/>
            </a:avLst>
          </a:prstGeom>
          <a:solidFill>
            <a:srgbClr val="3B82F6"/>
          </a:solidFill>
          <a:ln/>
        </p:spPr>
      </p:sp>
      <p:sp>
        <p:nvSpPr>
          <p:cNvPr id="46" name="Shape 44"/>
          <p:cNvSpPr/>
          <p:nvPr/>
        </p:nvSpPr>
        <p:spPr>
          <a:xfrm>
            <a:off x="6547104" y="2194560"/>
            <a:ext cx="182880" cy="7498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7" name="Text 45"/>
          <p:cNvSpPr/>
          <p:nvPr/>
        </p:nvSpPr>
        <p:spPr>
          <a:xfrm>
            <a:off x="6217920" y="2377440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6812280" y="2267712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&amp; Capacity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6812280" y="2578608"/>
            <a:ext cx="4663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scores, utilization heatmaps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6217920" y="3108960"/>
            <a:ext cx="5394960" cy="749808"/>
          </a:xfrm>
          <a:prstGeom prst="roundRect">
            <a:avLst>
              <a:gd name="adj" fmla="val 9756"/>
            </a:avLst>
          </a:prstGeom>
          <a:solidFill>
            <a:srgbClr val="F1F5F9"/>
          </a:solidFill>
          <a:ln/>
        </p:spPr>
      </p:sp>
      <p:sp>
        <p:nvSpPr>
          <p:cNvPr id="51" name="Shape 49"/>
          <p:cNvSpPr/>
          <p:nvPr/>
        </p:nvSpPr>
        <p:spPr>
          <a:xfrm>
            <a:off x="6217920" y="3108960"/>
            <a:ext cx="502920" cy="749808"/>
          </a:xfrm>
          <a:prstGeom prst="roundRect">
            <a:avLst>
              <a:gd name="adj" fmla="val 14545"/>
            </a:avLst>
          </a:prstGeom>
          <a:solidFill>
            <a:srgbClr val="3B82F6"/>
          </a:solidFill>
          <a:ln/>
        </p:spPr>
      </p:sp>
      <p:sp>
        <p:nvSpPr>
          <p:cNvPr id="52" name="Shape 50"/>
          <p:cNvSpPr/>
          <p:nvPr/>
        </p:nvSpPr>
        <p:spPr>
          <a:xfrm>
            <a:off x="6547104" y="3108960"/>
            <a:ext cx="182880" cy="7498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3" name="Text 51"/>
          <p:cNvSpPr/>
          <p:nvPr/>
        </p:nvSpPr>
        <p:spPr>
          <a:xfrm>
            <a:off x="6217920" y="3291840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6812280" y="3182112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Dashboard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6812280" y="3493008"/>
            <a:ext cx="4663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OKRs, scorecards, resource view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6217920" y="4023360"/>
            <a:ext cx="5394960" cy="749808"/>
          </a:xfrm>
          <a:prstGeom prst="roundRect">
            <a:avLst>
              <a:gd name="adj" fmla="val 9756"/>
            </a:avLst>
          </a:prstGeom>
          <a:solidFill>
            <a:srgbClr val="F1F5F9"/>
          </a:solidFill>
          <a:ln/>
        </p:spPr>
      </p:sp>
      <p:sp>
        <p:nvSpPr>
          <p:cNvPr id="57" name="Shape 55"/>
          <p:cNvSpPr/>
          <p:nvPr/>
        </p:nvSpPr>
        <p:spPr>
          <a:xfrm>
            <a:off x="6217920" y="4023360"/>
            <a:ext cx="502920" cy="749808"/>
          </a:xfrm>
          <a:prstGeom prst="roundRect">
            <a:avLst>
              <a:gd name="adj" fmla="val 14545"/>
            </a:avLst>
          </a:prstGeom>
          <a:solidFill>
            <a:srgbClr val="3B82F6"/>
          </a:solidFill>
          <a:ln/>
        </p:spPr>
      </p:sp>
      <p:sp>
        <p:nvSpPr>
          <p:cNvPr id="58" name="Shape 56"/>
          <p:cNvSpPr/>
          <p:nvPr/>
        </p:nvSpPr>
        <p:spPr>
          <a:xfrm>
            <a:off x="6547104" y="4023360"/>
            <a:ext cx="182880" cy="7498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9" name="Text 57"/>
          <p:cNvSpPr/>
          <p:nvPr/>
        </p:nvSpPr>
        <p:spPr>
          <a:xfrm>
            <a:off x="6217920" y="4206240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6812280" y="4096512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Features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6812280" y="4407408"/>
            <a:ext cx="4663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Search, notifications, exports, AI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6217920" y="4937760"/>
            <a:ext cx="5394960" cy="749808"/>
          </a:xfrm>
          <a:prstGeom prst="roundRect">
            <a:avLst>
              <a:gd name="adj" fmla="val 9756"/>
            </a:avLst>
          </a:prstGeom>
          <a:solidFill>
            <a:srgbClr val="F1F5F9"/>
          </a:solidFill>
          <a:ln/>
        </p:spPr>
      </p:sp>
      <p:sp>
        <p:nvSpPr>
          <p:cNvPr id="63" name="Shape 61"/>
          <p:cNvSpPr/>
          <p:nvPr/>
        </p:nvSpPr>
        <p:spPr>
          <a:xfrm>
            <a:off x="6217920" y="4937760"/>
            <a:ext cx="502920" cy="749808"/>
          </a:xfrm>
          <a:prstGeom prst="roundRect">
            <a:avLst>
              <a:gd name="adj" fmla="val 14545"/>
            </a:avLst>
          </a:prstGeom>
          <a:solidFill>
            <a:srgbClr val="3B82F6"/>
          </a:solidFill>
          <a:ln/>
        </p:spPr>
      </p:sp>
      <p:sp>
        <p:nvSpPr>
          <p:cNvPr id="64" name="Shape 62"/>
          <p:cNvSpPr/>
          <p:nvPr/>
        </p:nvSpPr>
        <p:spPr>
          <a:xfrm>
            <a:off x="6547104" y="4937760"/>
            <a:ext cx="182880" cy="7498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65" name="Text 63"/>
          <p:cNvSpPr/>
          <p:nvPr/>
        </p:nvSpPr>
        <p:spPr>
          <a:xfrm>
            <a:off x="6217920" y="5120640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66" name="Text 64"/>
          <p:cNvSpPr/>
          <p:nvPr/>
        </p:nvSpPr>
        <p:spPr>
          <a:xfrm>
            <a:off x="6812280" y="5010912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&amp; Next Steps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6812280" y="5321808"/>
            <a:ext cx="4663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Upcoming features and deployment plan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09728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Overview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58368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 solved and value delivered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51052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Council of India — Enterprise PM Tool   |   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704320" y="65105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65760" y="123444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Addressed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1627632"/>
            <a:ext cx="5303520" cy="438912"/>
          </a:xfrm>
          <a:prstGeom prst="rect">
            <a:avLst/>
          </a:prstGeom>
          <a:solidFill>
            <a:srgbClr val="FFF1F2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1691640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Siloed project data across divisions with no unified view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2176272"/>
            <a:ext cx="5303520" cy="438912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2240280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Manual status tracking leading to missed deadlines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2724912"/>
            <a:ext cx="5303520" cy="438912"/>
          </a:xfrm>
          <a:prstGeom prst="rect">
            <a:avLst/>
          </a:prstGeom>
          <a:solidFill>
            <a:srgbClr val="FFF1F2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2788920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No visibility into team capacity and resource utilization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3273552"/>
            <a:ext cx="5303520" cy="438912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3337560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Disconnected approval workflows causing delays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3822192"/>
            <a:ext cx="5303520" cy="438912"/>
          </a:xfrm>
          <a:prstGeom prst="rect">
            <a:avLst/>
          </a:prstGeom>
          <a:solidFill>
            <a:srgbClr val="FFF1F2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3886200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No real-time portfolio health monitoring for leadership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4370832"/>
            <a:ext cx="5303520" cy="438912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434840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Time tracking scattered across spreadsheets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0800" y="123444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0" y="1627632"/>
            <a:ext cx="5303520" cy="438912"/>
          </a:xfrm>
          <a:prstGeom prst="rect">
            <a:avLst/>
          </a:prstGeom>
          <a:solidFill>
            <a:srgbClr val="F0FDF4"/>
          </a:solidFill>
          <a:ln/>
        </p:spPr>
      </p:sp>
      <p:sp>
        <p:nvSpPr>
          <p:cNvPr id="23" name="Text 21"/>
          <p:cNvSpPr/>
          <p:nvPr/>
        </p:nvSpPr>
        <p:spPr>
          <a:xfrm>
            <a:off x="6537960" y="1691640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Single unified platform for all divisions and projects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400800" y="2176272"/>
            <a:ext cx="5303520" cy="438912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25" name="Text 23"/>
          <p:cNvSpPr/>
          <p:nvPr/>
        </p:nvSpPr>
        <p:spPr>
          <a:xfrm>
            <a:off x="6537960" y="2240280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Real-time Kanban boards with drag-and-drop task management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400800" y="2724912"/>
            <a:ext cx="5303520" cy="438912"/>
          </a:xfrm>
          <a:prstGeom prst="rect">
            <a:avLst/>
          </a:prstGeom>
          <a:solidFill>
            <a:srgbClr val="F0FDF4"/>
          </a:solidFill>
          <a:ln/>
        </p:spPr>
      </p:sp>
      <p:sp>
        <p:nvSpPr>
          <p:cNvPr id="27" name="Text 25"/>
          <p:cNvSpPr/>
          <p:nvPr/>
        </p:nvSpPr>
        <p:spPr>
          <a:xfrm>
            <a:off x="6537960" y="2788920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Capacity planning heatmaps and resource dashboards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400800" y="3273552"/>
            <a:ext cx="5303520" cy="438912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29" name="Text 27"/>
          <p:cNvSpPr/>
          <p:nvPr/>
        </p:nvSpPr>
        <p:spPr>
          <a:xfrm>
            <a:off x="6537960" y="3337560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Configurable approval chains with audit trails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400800" y="3822192"/>
            <a:ext cx="5303520" cy="438912"/>
          </a:xfrm>
          <a:prstGeom prst="rect">
            <a:avLst/>
          </a:prstGeom>
          <a:solidFill>
            <a:srgbClr val="F0FDF4"/>
          </a:solidFill>
          <a:ln/>
        </p:spPr>
      </p:sp>
      <p:sp>
        <p:nvSpPr>
          <p:cNvPr id="31" name="Text 29"/>
          <p:cNvSpPr/>
          <p:nvPr/>
        </p:nvSpPr>
        <p:spPr>
          <a:xfrm>
            <a:off x="6537960" y="3886200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Executive portfolio dashboard with health scores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400800" y="4370832"/>
            <a:ext cx="5303520" cy="438912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33" name="Text 31"/>
          <p:cNvSpPr/>
          <p:nvPr/>
        </p:nvSpPr>
        <p:spPr>
          <a:xfrm>
            <a:off x="6537960" y="4434840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Integrated time logging and timesheet approvals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080760" y="1234440"/>
            <a:ext cx="36576" cy="3657600"/>
          </a:xfrm>
          <a:prstGeom prst="rect">
            <a:avLst/>
          </a:prstGeom>
          <a:solidFill>
            <a:srgbClr val="E2E8F0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09728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Roles &amp; Access Control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58368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6-tier role-based access control system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51052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Council of India — Enterprise PM Tool   |   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704320" y="65105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1325880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2700000">
              <a:srgbClr val="000000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1325880"/>
            <a:ext cx="5394960" cy="384048"/>
          </a:xfrm>
          <a:prstGeom prst="roundRect">
            <a:avLst>
              <a:gd name="adj" fmla="val 23810"/>
            </a:avLst>
          </a:prstGeom>
          <a:solidFill>
            <a:srgbClr val="DC2626"/>
          </a:solidFill>
          <a:ln/>
        </p:spPr>
      </p:sp>
      <p:sp>
        <p:nvSpPr>
          <p:cNvPr id="10" name="Shape 8"/>
          <p:cNvSpPr/>
          <p:nvPr/>
        </p:nvSpPr>
        <p:spPr>
          <a:xfrm>
            <a:off x="365760" y="1545336"/>
            <a:ext cx="5394960" cy="16459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1" name="Text 9"/>
          <p:cNvSpPr/>
          <p:nvPr/>
        </p:nvSpPr>
        <p:spPr>
          <a:xfrm>
            <a:off x="530352" y="139903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 Admin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30352" y="1801368"/>
            <a:ext cx="50292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system access. Manages users, divisions, billing, global settings, and all projects across the organization.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17920" y="1325880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2700000">
              <a:srgbClr val="000000">
                <a:alpha val="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17920" y="1325880"/>
            <a:ext cx="5394960" cy="384048"/>
          </a:xfrm>
          <a:prstGeom prst="roundRect">
            <a:avLst>
              <a:gd name="adj" fmla="val 23810"/>
            </a:avLst>
          </a:prstGeom>
          <a:solidFill>
            <a:srgbClr val="EA580C"/>
          </a:solidFill>
          <a:ln/>
        </p:spPr>
      </p:sp>
      <p:sp>
        <p:nvSpPr>
          <p:cNvPr id="15" name="Shape 13"/>
          <p:cNvSpPr/>
          <p:nvPr/>
        </p:nvSpPr>
        <p:spPr>
          <a:xfrm>
            <a:off x="6217920" y="1545336"/>
            <a:ext cx="5394960" cy="164592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6" name="Text 14"/>
          <p:cNvSpPr/>
          <p:nvPr/>
        </p:nvSpPr>
        <p:spPr>
          <a:xfrm>
            <a:off x="6382512" y="139903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 Admin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82512" y="1801368"/>
            <a:ext cx="50292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a specific division — its projects, members, budget, workflows, and division-level configurations.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65760" y="2880360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2700000">
              <a:srgbClr val="000000">
                <a:alpha val="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65760" y="2880360"/>
            <a:ext cx="5394960" cy="384048"/>
          </a:xfrm>
          <a:prstGeom prst="roundRect">
            <a:avLst>
              <a:gd name="adj" fmla="val 23810"/>
            </a:avLst>
          </a:prstGeom>
          <a:solidFill>
            <a:srgbClr val="2563EB"/>
          </a:solidFill>
          <a:ln/>
        </p:spPr>
      </p:sp>
      <p:sp>
        <p:nvSpPr>
          <p:cNvPr id="20" name="Shape 18"/>
          <p:cNvSpPr/>
          <p:nvPr/>
        </p:nvSpPr>
        <p:spPr>
          <a:xfrm>
            <a:off x="365760" y="3099816"/>
            <a:ext cx="5394960" cy="16459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1" name="Text 19"/>
          <p:cNvSpPr/>
          <p:nvPr/>
        </p:nvSpPr>
        <p:spPr>
          <a:xfrm>
            <a:off x="530352" y="295351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Manager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30352" y="3355848"/>
            <a:ext cx="50292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and manages projects, assigns tasks, runs sprints, approves timesheets, and monitors team capacity.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217920" y="2880360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2700000">
              <a:srgbClr val="000000">
                <a:alpha val="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217920" y="2880360"/>
            <a:ext cx="5394960" cy="384048"/>
          </a:xfrm>
          <a:prstGeom prst="roundRect">
            <a:avLst>
              <a:gd name="adj" fmla="val 23810"/>
            </a:avLst>
          </a:prstGeom>
          <a:solidFill>
            <a:srgbClr val="16A34A"/>
          </a:solidFill>
          <a:ln/>
        </p:spPr>
      </p:sp>
      <p:sp>
        <p:nvSpPr>
          <p:cNvPr id="25" name="Shape 23"/>
          <p:cNvSpPr/>
          <p:nvPr/>
        </p:nvSpPr>
        <p:spPr>
          <a:xfrm>
            <a:off x="6217920" y="3099816"/>
            <a:ext cx="5394960" cy="16459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6" name="Text 24"/>
          <p:cNvSpPr/>
          <p:nvPr/>
        </p:nvSpPr>
        <p:spPr>
          <a:xfrm>
            <a:off x="6382512" y="295351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382512" y="3355848"/>
            <a:ext cx="50292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on assigned tasks, logs time, submits timesheets, participates in sprints, and adds comments.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65760" y="4434840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2700000">
              <a:srgbClr val="000000">
                <a:alpha val="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65760" y="4434840"/>
            <a:ext cx="5394960" cy="384048"/>
          </a:xfrm>
          <a:prstGeom prst="roundRect">
            <a:avLst>
              <a:gd name="adj" fmla="val 23810"/>
            </a:avLst>
          </a:prstGeom>
          <a:solidFill>
            <a:srgbClr val="7C3AED"/>
          </a:solidFill>
          <a:ln/>
        </p:spPr>
      </p:sp>
      <p:sp>
        <p:nvSpPr>
          <p:cNvPr id="30" name="Shape 28"/>
          <p:cNvSpPr/>
          <p:nvPr/>
        </p:nvSpPr>
        <p:spPr>
          <a:xfrm>
            <a:off x="365760" y="4654296"/>
            <a:ext cx="5394960" cy="16459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1" name="Text 29"/>
          <p:cNvSpPr/>
          <p:nvPr/>
        </p:nvSpPr>
        <p:spPr>
          <a:xfrm>
            <a:off x="530352" y="450799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30352" y="4910328"/>
            <a:ext cx="50292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access to portfolio dashboards, OKR tracking, executive scorecards, and cross-division reports.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217920" y="4434840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2700000">
              <a:srgbClr val="000000">
                <a:alpha val="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217920" y="4434840"/>
            <a:ext cx="5394960" cy="384048"/>
          </a:xfrm>
          <a:prstGeom prst="roundRect">
            <a:avLst>
              <a:gd name="adj" fmla="val 23810"/>
            </a:avLst>
          </a:prstGeom>
          <a:solidFill>
            <a:srgbClr val="475569"/>
          </a:solidFill>
          <a:ln/>
        </p:spPr>
      </p:sp>
      <p:sp>
        <p:nvSpPr>
          <p:cNvPr id="35" name="Shape 33"/>
          <p:cNvSpPr/>
          <p:nvPr/>
        </p:nvSpPr>
        <p:spPr>
          <a:xfrm>
            <a:off x="6217920" y="4654296"/>
            <a:ext cx="5394960" cy="164592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36" name="Text 34"/>
          <p:cNvSpPr/>
          <p:nvPr/>
        </p:nvSpPr>
        <p:spPr>
          <a:xfrm>
            <a:off x="6382512" y="450799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Viewer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382512" y="4910328"/>
            <a:ext cx="50292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read-only access to specific projects they are granted visibility into. Cannot create or modify.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09728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58368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org-wide visibility at a glance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51052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Council of India — Enterprise PM Tool   |   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704320" y="65105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1325880"/>
            <a:ext cx="2377440" cy="1188720"/>
          </a:xfrm>
          <a:prstGeom prst="roundRect">
            <a:avLst>
              <a:gd name="adj" fmla="val 9231"/>
            </a:avLst>
          </a:prstGeom>
          <a:solidFill>
            <a:srgbClr val="3B82F6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5760" y="141732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65760" y="1984248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Projects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880360" y="1325880"/>
            <a:ext cx="2377440" cy="1188720"/>
          </a:xfrm>
          <a:prstGeom prst="roundRect">
            <a:avLst>
              <a:gd name="adj" fmla="val 9231"/>
            </a:avLst>
          </a:prstGeom>
          <a:solidFill>
            <a:srgbClr val="10B981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880360" y="141732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148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2880360" y="1984248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Tasks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94960" y="1325880"/>
            <a:ext cx="2377440" cy="1188720"/>
          </a:xfrm>
          <a:prstGeom prst="roundRect">
            <a:avLst>
              <a:gd name="adj" fmla="val 9231"/>
            </a:avLst>
          </a:prstGeom>
          <a:solidFill>
            <a:srgbClr val="8B5CF6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394960" y="141732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73%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5394960" y="1984248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Completion Rate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909560" y="1325880"/>
            <a:ext cx="2377440" cy="1188720"/>
          </a:xfrm>
          <a:prstGeom prst="roundRect">
            <a:avLst>
              <a:gd name="adj" fmla="val 9231"/>
            </a:avLst>
          </a:prstGeom>
          <a:solidFill>
            <a:srgbClr val="DC2626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909560" y="141732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7909560" y="1984248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Overdue Tasks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2743200"/>
            <a:ext cx="530352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14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2743200"/>
            <a:ext cx="5303520" cy="29260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5488" y="2834640"/>
            <a:ext cx="109728" cy="109728"/>
          </a:xfrm>
          <a:prstGeom prst="ellipse">
            <a:avLst/>
          </a:prstGeom>
          <a:solidFill>
            <a:srgbClr val="FC5C57"/>
          </a:solidFill>
          <a:ln/>
        </p:spPr>
      </p:sp>
      <p:sp>
        <p:nvSpPr>
          <p:cNvPr id="23" name="Shape 21"/>
          <p:cNvSpPr/>
          <p:nvPr/>
        </p:nvSpPr>
        <p:spPr>
          <a:xfrm>
            <a:off x="640080" y="2834640"/>
            <a:ext cx="109728" cy="109728"/>
          </a:xfrm>
          <a:prstGeom prst="ellipse">
            <a:avLst/>
          </a:prstGeom>
          <a:solidFill>
            <a:srgbClr val="FDBC2C"/>
          </a:solidFill>
          <a:ln/>
        </p:spPr>
      </p:sp>
      <p:sp>
        <p:nvSpPr>
          <p:cNvPr id="24" name="Shape 22"/>
          <p:cNvSpPr/>
          <p:nvPr/>
        </p:nvSpPr>
        <p:spPr>
          <a:xfrm>
            <a:off x="804672" y="2834640"/>
            <a:ext cx="109728" cy="109728"/>
          </a:xfrm>
          <a:prstGeom prst="ellipse">
            <a:avLst/>
          </a:prstGeom>
          <a:solidFill>
            <a:srgbClr val="34C84A"/>
          </a:solidFill>
          <a:ln/>
        </p:spPr>
      </p:sp>
      <p:sp>
        <p:nvSpPr>
          <p:cNvPr id="25" name="Shape 23"/>
          <p:cNvSpPr/>
          <p:nvPr/>
        </p:nvSpPr>
        <p:spPr>
          <a:xfrm>
            <a:off x="1005840" y="2788920"/>
            <a:ext cx="4389120" cy="201168"/>
          </a:xfrm>
          <a:prstGeom prst="roundRect">
            <a:avLst>
              <a:gd name="adj" fmla="val 18182"/>
            </a:avLst>
          </a:prstGeom>
          <a:solidFill>
            <a:srgbClr val="EEF2FF"/>
          </a:solidFill>
          <a:ln/>
        </p:spPr>
      </p:sp>
      <p:sp>
        <p:nvSpPr>
          <p:cNvPr id="26" name="Text 24"/>
          <p:cNvSpPr/>
          <p:nvPr/>
        </p:nvSpPr>
        <p:spPr>
          <a:xfrm>
            <a:off x="1051560" y="2807208"/>
            <a:ext cx="42976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366F1"/>
                </a:solidFill>
              </a:rPr>
              <a:t>localhost:5173 — PM Tool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365760" y="3035808"/>
            <a:ext cx="5303520" cy="329184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072384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Activity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760" y="3401568"/>
            <a:ext cx="530352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530352" y="3474720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Sprint 3 started — Sample Project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65760" y="3730752"/>
            <a:ext cx="5303520" cy="329184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2" name="Text 30"/>
          <p:cNvSpPr/>
          <p:nvPr/>
        </p:nvSpPr>
        <p:spPr>
          <a:xfrm>
            <a:off x="530352" y="3803904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Task "Auth flow" marked Done by Ravi Kumar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65760" y="4059936"/>
            <a:ext cx="530352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530352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 New comment on "API Platform v3"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365760" y="4389120"/>
            <a:ext cx="5303520" cy="329184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6" name="Text 34"/>
          <p:cNvSpPr/>
          <p:nvPr/>
        </p:nvSpPr>
        <p:spPr>
          <a:xfrm>
            <a:off x="530352" y="4462272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 Anjali Singh invited Vikram Mehta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365760" y="4718304"/>
            <a:ext cx="530352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530352" y="47914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Timesheet submitted by Ravi Kumar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365760" y="5047488"/>
            <a:ext cx="5303520" cy="329184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40" name="Text 38"/>
          <p:cNvSpPr/>
          <p:nvPr/>
        </p:nvSpPr>
        <p:spPr>
          <a:xfrm>
            <a:off x="530352" y="5120640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 Project "Q2 Lead Campaign" created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035040" y="2743200"/>
            <a:ext cx="576072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14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035040" y="2743200"/>
            <a:ext cx="5760720" cy="29260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144768" y="2834640"/>
            <a:ext cx="109728" cy="109728"/>
          </a:xfrm>
          <a:prstGeom prst="ellipse">
            <a:avLst/>
          </a:prstGeom>
          <a:solidFill>
            <a:srgbClr val="FC5C57"/>
          </a:solidFill>
          <a:ln/>
        </p:spPr>
      </p:sp>
      <p:sp>
        <p:nvSpPr>
          <p:cNvPr id="44" name="Shape 42"/>
          <p:cNvSpPr/>
          <p:nvPr/>
        </p:nvSpPr>
        <p:spPr>
          <a:xfrm>
            <a:off x="6309360" y="2834640"/>
            <a:ext cx="109728" cy="109728"/>
          </a:xfrm>
          <a:prstGeom prst="ellipse">
            <a:avLst/>
          </a:prstGeom>
          <a:solidFill>
            <a:srgbClr val="FDBC2C"/>
          </a:solidFill>
          <a:ln/>
        </p:spPr>
      </p:sp>
      <p:sp>
        <p:nvSpPr>
          <p:cNvPr id="45" name="Shape 43"/>
          <p:cNvSpPr/>
          <p:nvPr/>
        </p:nvSpPr>
        <p:spPr>
          <a:xfrm>
            <a:off x="6473952" y="2834640"/>
            <a:ext cx="109728" cy="109728"/>
          </a:xfrm>
          <a:prstGeom prst="ellipse">
            <a:avLst/>
          </a:prstGeom>
          <a:solidFill>
            <a:srgbClr val="34C84A"/>
          </a:solidFill>
          <a:ln/>
        </p:spPr>
      </p:sp>
      <p:sp>
        <p:nvSpPr>
          <p:cNvPr id="46" name="Shape 44"/>
          <p:cNvSpPr/>
          <p:nvPr/>
        </p:nvSpPr>
        <p:spPr>
          <a:xfrm>
            <a:off x="6675120" y="2788920"/>
            <a:ext cx="4846320" cy="201168"/>
          </a:xfrm>
          <a:prstGeom prst="roundRect">
            <a:avLst>
              <a:gd name="adj" fmla="val 18182"/>
            </a:avLst>
          </a:prstGeom>
          <a:solidFill>
            <a:srgbClr val="EEF2FF"/>
          </a:solidFill>
          <a:ln/>
        </p:spPr>
      </p:sp>
      <p:sp>
        <p:nvSpPr>
          <p:cNvPr id="47" name="Text 45"/>
          <p:cNvSpPr/>
          <p:nvPr/>
        </p:nvSpPr>
        <p:spPr>
          <a:xfrm>
            <a:off x="6720840" y="2807208"/>
            <a:ext cx="4754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366F1"/>
                </a:solidFill>
              </a:rPr>
              <a:t>localhost:5173 — PM Tool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6035040" y="3035808"/>
            <a:ext cx="5760720" cy="329184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49" name="Text 47"/>
          <p:cNvSpPr/>
          <p:nvPr/>
        </p:nvSpPr>
        <p:spPr>
          <a:xfrm>
            <a:off x="6172200" y="307238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Tasks (Due Soon)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035040" y="3401568"/>
            <a:ext cx="576072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>
          <a:xfrm>
            <a:off x="6199632" y="3474720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HIGH  — Design navigation component  (Due: May 10)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6035040" y="3730752"/>
            <a:ext cx="5760720" cy="329184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53" name="Text 51"/>
          <p:cNvSpPr/>
          <p:nvPr/>
        </p:nvSpPr>
        <p:spPr>
          <a:xfrm>
            <a:off x="6199632" y="3803904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🟡 MED   — API specification document  (Due: May 20)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6035040" y="4059936"/>
            <a:ext cx="576072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Text 53"/>
          <p:cNvSpPr/>
          <p:nvPr/>
        </p:nvSpPr>
        <p:spPr>
          <a:xfrm>
            <a:off x="6199632" y="4133088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CRIT  — Implement auth flow         (Due: May 15)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6035040" y="4389120"/>
            <a:ext cx="5760720" cy="329184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57" name="Text 55"/>
          <p:cNvSpPr/>
          <p:nvPr/>
        </p:nvSpPr>
        <p:spPr>
          <a:xfrm>
            <a:off x="6199632" y="446227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LOW   — Rate limiting middleware    (Due: Jun 01)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365760" y="6053328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sidebar includes: Dashboard · Projects · Sprints · My Tasks · Time Logs · Calendar · Portfolio · Capacity Planning · Executive Dashboard · Admin modules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09728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Management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58368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project lifecycle management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51052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Council of India — Enterprise PM Tool   |   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704320" y="65105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65760" y="1207008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 Board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554480"/>
            <a:ext cx="2606040" cy="4480560"/>
          </a:xfrm>
          <a:prstGeom prst="roundRect">
            <a:avLst>
              <a:gd name="adj" fmla="val 3509"/>
            </a:avLst>
          </a:prstGeom>
          <a:solidFill>
            <a:srgbClr val="F1F5F9"/>
          </a:solidFill>
          <a:ln/>
        </p:spPr>
      </p:sp>
      <p:sp>
        <p:nvSpPr>
          <p:cNvPr id="10" name="Shape 8"/>
          <p:cNvSpPr/>
          <p:nvPr/>
        </p:nvSpPr>
        <p:spPr>
          <a:xfrm>
            <a:off x="365760" y="1554480"/>
            <a:ext cx="2606040" cy="347472"/>
          </a:xfrm>
          <a:prstGeom prst="roundRect">
            <a:avLst>
              <a:gd name="adj" fmla="val 26316"/>
            </a:avLst>
          </a:prstGeom>
          <a:solidFill>
            <a:srgbClr val="64748B"/>
          </a:solidFill>
          <a:ln/>
        </p:spPr>
      </p:sp>
      <p:sp>
        <p:nvSpPr>
          <p:cNvPr id="11" name="Shape 9"/>
          <p:cNvSpPr/>
          <p:nvPr/>
        </p:nvSpPr>
        <p:spPr>
          <a:xfrm>
            <a:off x="365760" y="1719072"/>
            <a:ext cx="2606040" cy="18288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60020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5488" y="2011680"/>
            <a:ext cx="23774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66928" y="2103120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API spec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66928" y="2468880"/>
            <a:ext cx="594360" cy="201168"/>
          </a:xfrm>
          <a:prstGeom prst="roundRect">
            <a:avLst>
              <a:gd name="adj" fmla="val 27273"/>
            </a:avLst>
          </a:prstGeom>
          <a:solidFill>
            <a:srgbClr val="FEF9C3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487168"/>
            <a:ext cx="594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54D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2267712" y="2450592"/>
            <a:ext cx="237744" cy="237744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8" name="Text 16"/>
          <p:cNvSpPr/>
          <p:nvPr/>
        </p:nvSpPr>
        <p:spPr>
          <a:xfrm>
            <a:off x="2267712" y="24871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RK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475488" y="3063240"/>
            <a:ext cx="23774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66928" y="3154680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DB schema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66928" y="3520440"/>
            <a:ext cx="594360" cy="201168"/>
          </a:xfrm>
          <a:prstGeom prst="roundRect">
            <a:avLst>
              <a:gd name="adj" fmla="val 27273"/>
            </a:avLst>
          </a:prstGeom>
          <a:solidFill>
            <a:srgbClr val="FEF9C3"/>
          </a:solidFill>
          <a:ln/>
        </p:spPr>
      </p:sp>
      <p:sp>
        <p:nvSpPr>
          <p:cNvPr id="22" name="Text 20"/>
          <p:cNvSpPr/>
          <p:nvPr/>
        </p:nvSpPr>
        <p:spPr>
          <a:xfrm>
            <a:off x="566928" y="3538728"/>
            <a:ext cx="594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54D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2267712" y="3502152"/>
            <a:ext cx="237744" cy="237744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24" name="Text 22"/>
          <p:cNvSpPr/>
          <p:nvPr/>
        </p:nvSpPr>
        <p:spPr>
          <a:xfrm>
            <a:off x="2267712" y="353872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RK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3200400" y="1554480"/>
            <a:ext cx="2606040" cy="4480560"/>
          </a:xfrm>
          <a:prstGeom prst="roundRect">
            <a:avLst>
              <a:gd name="adj" fmla="val 3509"/>
            </a:avLst>
          </a:prstGeom>
          <a:solidFill>
            <a:srgbClr val="F1F5F9"/>
          </a:solidFill>
          <a:ln/>
        </p:spPr>
      </p:sp>
      <p:sp>
        <p:nvSpPr>
          <p:cNvPr id="26" name="Shape 24"/>
          <p:cNvSpPr/>
          <p:nvPr/>
        </p:nvSpPr>
        <p:spPr>
          <a:xfrm>
            <a:off x="3200400" y="1554480"/>
            <a:ext cx="2606040" cy="347472"/>
          </a:xfrm>
          <a:prstGeom prst="roundRect">
            <a:avLst>
              <a:gd name="adj" fmla="val 26316"/>
            </a:avLst>
          </a:prstGeom>
          <a:solidFill>
            <a:srgbClr val="3B82F6"/>
          </a:solidFill>
          <a:ln/>
        </p:spPr>
      </p:sp>
      <p:sp>
        <p:nvSpPr>
          <p:cNvPr id="27" name="Shape 25"/>
          <p:cNvSpPr/>
          <p:nvPr/>
        </p:nvSpPr>
        <p:spPr>
          <a:xfrm>
            <a:off x="3200400" y="1719072"/>
            <a:ext cx="2606040" cy="1828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8" name="Text 26"/>
          <p:cNvSpPr/>
          <p:nvPr/>
        </p:nvSpPr>
        <p:spPr>
          <a:xfrm>
            <a:off x="3291840" y="160020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310128" y="2011680"/>
            <a:ext cx="23774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3401568" y="2103120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middleware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401568" y="2468880"/>
            <a:ext cx="594360" cy="201168"/>
          </a:xfrm>
          <a:prstGeom prst="roundRect">
            <a:avLst>
              <a:gd name="adj" fmla="val 27273"/>
            </a:avLst>
          </a:prstGeom>
          <a:solidFill>
            <a:srgbClr val="FEF9C3"/>
          </a:solidFill>
          <a:ln/>
        </p:spPr>
      </p:sp>
      <p:sp>
        <p:nvSpPr>
          <p:cNvPr id="32" name="Text 30"/>
          <p:cNvSpPr/>
          <p:nvPr/>
        </p:nvSpPr>
        <p:spPr>
          <a:xfrm>
            <a:off x="3401568" y="2487168"/>
            <a:ext cx="594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54D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5102352" y="2450592"/>
            <a:ext cx="237744" cy="237744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34" name="Text 32"/>
          <p:cNvSpPr/>
          <p:nvPr/>
        </p:nvSpPr>
        <p:spPr>
          <a:xfrm>
            <a:off x="5102352" y="24871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RK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3310128" y="3063240"/>
            <a:ext cx="23774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401568" y="3154680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401568" y="3520440"/>
            <a:ext cx="594360" cy="201168"/>
          </a:xfrm>
          <a:prstGeom prst="roundRect">
            <a:avLst>
              <a:gd name="adj" fmla="val 27273"/>
            </a:avLst>
          </a:prstGeom>
          <a:solidFill>
            <a:srgbClr val="FEF9C3"/>
          </a:solidFill>
          <a:ln/>
        </p:spPr>
      </p:sp>
      <p:sp>
        <p:nvSpPr>
          <p:cNvPr id="38" name="Text 36"/>
          <p:cNvSpPr/>
          <p:nvPr/>
        </p:nvSpPr>
        <p:spPr>
          <a:xfrm>
            <a:off x="3401568" y="3538728"/>
            <a:ext cx="594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54D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5102352" y="3502152"/>
            <a:ext cx="237744" cy="237744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40" name="Text 38"/>
          <p:cNvSpPr/>
          <p:nvPr/>
        </p:nvSpPr>
        <p:spPr>
          <a:xfrm>
            <a:off x="5102352" y="353872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RK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6035040" y="1554480"/>
            <a:ext cx="2606040" cy="4480560"/>
          </a:xfrm>
          <a:prstGeom prst="roundRect">
            <a:avLst>
              <a:gd name="adj" fmla="val 3509"/>
            </a:avLst>
          </a:prstGeom>
          <a:solidFill>
            <a:srgbClr val="F1F5F9"/>
          </a:solidFill>
          <a:ln/>
        </p:spPr>
      </p:sp>
      <p:sp>
        <p:nvSpPr>
          <p:cNvPr id="42" name="Shape 40"/>
          <p:cNvSpPr/>
          <p:nvPr/>
        </p:nvSpPr>
        <p:spPr>
          <a:xfrm>
            <a:off x="6035040" y="1554480"/>
            <a:ext cx="2606040" cy="347472"/>
          </a:xfrm>
          <a:prstGeom prst="roundRect">
            <a:avLst>
              <a:gd name="adj" fmla="val 26316"/>
            </a:avLst>
          </a:prstGeom>
          <a:solidFill>
            <a:srgbClr val="F59E0B"/>
          </a:solidFill>
          <a:ln/>
        </p:spPr>
      </p:sp>
      <p:sp>
        <p:nvSpPr>
          <p:cNvPr id="43" name="Shape 41"/>
          <p:cNvSpPr/>
          <p:nvPr/>
        </p:nvSpPr>
        <p:spPr>
          <a:xfrm>
            <a:off x="6035040" y="1719072"/>
            <a:ext cx="2606040" cy="1828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4" name="Text 42"/>
          <p:cNvSpPr/>
          <p:nvPr/>
        </p:nvSpPr>
        <p:spPr>
          <a:xfrm>
            <a:off x="6126480" y="160020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6144768" y="2011680"/>
            <a:ext cx="23774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6236208" y="2103120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UI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236208" y="2468880"/>
            <a:ext cx="594360" cy="201168"/>
          </a:xfrm>
          <a:prstGeom prst="roundRect">
            <a:avLst>
              <a:gd name="adj" fmla="val 27273"/>
            </a:avLst>
          </a:prstGeom>
          <a:solidFill>
            <a:srgbClr val="FEF9C3"/>
          </a:solidFill>
          <a:ln/>
        </p:spPr>
      </p:sp>
      <p:sp>
        <p:nvSpPr>
          <p:cNvPr id="48" name="Text 46"/>
          <p:cNvSpPr/>
          <p:nvPr/>
        </p:nvSpPr>
        <p:spPr>
          <a:xfrm>
            <a:off x="6236208" y="2487168"/>
            <a:ext cx="594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54D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7936992" y="2450592"/>
            <a:ext cx="237744" cy="237744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50" name="Text 48"/>
          <p:cNvSpPr/>
          <p:nvPr/>
        </p:nvSpPr>
        <p:spPr>
          <a:xfrm>
            <a:off x="7936992" y="24871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RK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6144768" y="3063240"/>
            <a:ext cx="23774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6236208" y="3154680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 docs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236208" y="3520440"/>
            <a:ext cx="594360" cy="201168"/>
          </a:xfrm>
          <a:prstGeom prst="roundRect">
            <a:avLst>
              <a:gd name="adj" fmla="val 27273"/>
            </a:avLst>
          </a:prstGeom>
          <a:solidFill>
            <a:srgbClr val="FEF9C3"/>
          </a:solidFill>
          <a:ln/>
        </p:spPr>
      </p:sp>
      <p:sp>
        <p:nvSpPr>
          <p:cNvPr id="54" name="Text 52"/>
          <p:cNvSpPr/>
          <p:nvPr/>
        </p:nvSpPr>
        <p:spPr>
          <a:xfrm>
            <a:off x="6236208" y="3538728"/>
            <a:ext cx="594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54D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700" dirty="0"/>
          </a:p>
        </p:txBody>
      </p:sp>
      <p:sp>
        <p:nvSpPr>
          <p:cNvPr id="55" name="Shape 53"/>
          <p:cNvSpPr/>
          <p:nvPr/>
        </p:nvSpPr>
        <p:spPr>
          <a:xfrm>
            <a:off x="7936992" y="3502152"/>
            <a:ext cx="237744" cy="237744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56" name="Text 54"/>
          <p:cNvSpPr/>
          <p:nvPr/>
        </p:nvSpPr>
        <p:spPr>
          <a:xfrm>
            <a:off x="7936992" y="353872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RK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8869680" y="1554480"/>
            <a:ext cx="2606040" cy="4480560"/>
          </a:xfrm>
          <a:prstGeom prst="roundRect">
            <a:avLst>
              <a:gd name="adj" fmla="val 3509"/>
            </a:avLst>
          </a:prstGeom>
          <a:solidFill>
            <a:srgbClr val="F1F5F9"/>
          </a:solidFill>
          <a:ln/>
        </p:spPr>
      </p:sp>
      <p:sp>
        <p:nvSpPr>
          <p:cNvPr id="58" name="Shape 56"/>
          <p:cNvSpPr/>
          <p:nvPr/>
        </p:nvSpPr>
        <p:spPr>
          <a:xfrm>
            <a:off x="8869680" y="1554480"/>
            <a:ext cx="2606040" cy="347472"/>
          </a:xfrm>
          <a:prstGeom prst="roundRect">
            <a:avLst>
              <a:gd name="adj" fmla="val 26316"/>
            </a:avLst>
          </a:prstGeom>
          <a:solidFill>
            <a:srgbClr val="10B981"/>
          </a:solidFill>
          <a:ln/>
        </p:spPr>
      </p:sp>
      <p:sp>
        <p:nvSpPr>
          <p:cNvPr id="59" name="Shape 57"/>
          <p:cNvSpPr/>
          <p:nvPr/>
        </p:nvSpPr>
        <p:spPr>
          <a:xfrm>
            <a:off x="8869680" y="1719072"/>
            <a:ext cx="2606040" cy="1828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60" name="Text 58"/>
          <p:cNvSpPr/>
          <p:nvPr/>
        </p:nvSpPr>
        <p:spPr>
          <a:xfrm>
            <a:off x="8961120" y="160020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8979408" y="2011680"/>
            <a:ext cx="23774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62" name="Text 60"/>
          <p:cNvSpPr/>
          <p:nvPr/>
        </p:nvSpPr>
        <p:spPr>
          <a:xfrm>
            <a:off x="9070848" y="2103120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Pipeline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9070848" y="2468880"/>
            <a:ext cx="594360" cy="201168"/>
          </a:xfrm>
          <a:prstGeom prst="roundRect">
            <a:avLst>
              <a:gd name="adj" fmla="val 27273"/>
            </a:avLst>
          </a:prstGeom>
          <a:solidFill>
            <a:srgbClr val="FEF9C3"/>
          </a:solidFill>
          <a:ln/>
        </p:spPr>
      </p:sp>
      <p:sp>
        <p:nvSpPr>
          <p:cNvPr id="64" name="Text 62"/>
          <p:cNvSpPr/>
          <p:nvPr/>
        </p:nvSpPr>
        <p:spPr>
          <a:xfrm>
            <a:off x="9070848" y="2487168"/>
            <a:ext cx="594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54D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10771632" y="2450592"/>
            <a:ext cx="237744" cy="237744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66" name="Text 64"/>
          <p:cNvSpPr/>
          <p:nvPr/>
        </p:nvSpPr>
        <p:spPr>
          <a:xfrm>
            <a:off x="10771632" y="24871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RK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11704320" y="1207008"/>
            <a:ext cx="9144" cy="9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Key Features</a:t>
            </a:r>
            <a:endParaRPr lang="en-US" sz="100" dirty="0"/>
          </a:p>
        </p:txBody>
      </p:sp>
      <p:sp>
        <p:nvSpPr>
          <p:cNvPr id="68" name="Shape 66"/>
          <p:cNvSpPr/>
          <p:nvPr/>
        </p:nvSpPr>
        <p:spPr>
          <a:xfrm>
            <a:off x="11521440" y="1554480"/>
            <a:ext cx="502920" cy="448056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/>
        </p:spPr>
      </p:sp>
      <p:sp>
        <p:nvSpPr>
          <p:cNvPr id="69" name="Shape 67"/>
          <p:cNvSpPr/>
          <p:nvPr/>
        </p:nvSpPr>
        <p:spPr>
          <a:xfrm>
            <a:off x="11612880" y="1554480"/>
            <a:ext cx="457200" cy="448056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/>
        </p:spPr>
      </p:sp>
      <p:sp>
        <p:nvSpPr>
          <p:cNvPr id="70" name="Text 68"/>
          <p:cNvSpPr/>
          <p:nvPr/>
        </p:nvSpPr>
        <p:spPr>
          <a:xfrm>
            <a:off x="365760" y="6108192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Drag-and-drop task cards across status columns   ➕  Create tasks inline within any column   🏷️  Priority badges: Critical / High / Medium / Low   👤  Assignee avatars on every task card   ⋮   Three-dot menu: View Details · Delete Task   📊  Per-column task count and estimated hours   🔍  Filter by status, assignee, priority, search   📅  Project dates and progress tracking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09728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Management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58368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Agile sprint planning and execution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51052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Council of India — Enterprise PM Tool   |   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704320" y="65105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1280160"/>
            <a:ext cx="11430000" cy="914400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1463040"/>
            <a:ext cx="548640" cy="548640"/>
          </a:xfrm>
          <a:prstGeom prst="ellipse">
            <a:avLst/>
          </a:prstGeom>
          <a:solidFill>
            <a:srgbClr val="D1FAE5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1527048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59669"/>
                </a:solidFill>
              </a:rPr>
              <a:t>▶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80160" y="1344168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 — Active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80160" y="164592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user authentication and dashboard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8412480" y="1353312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412480" y="1700784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9692640" y="1353312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36h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692640" y="1700784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972800" y="1353312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972800" y="1700784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65760" y="235915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List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2697480"/>
            <a:ext cx="32004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46704" y="2816352"/>
            <a:ext cx="640080" cy="228600"/>
          </a:xfrm>
          <a:prstGeom prst="roundRect">
            <a:avLst>
              <a:gd name="adj" fmla="val 32000"/>
            </a:avLst>
          </a:prstGeom>
          <a:solidFill>
            <a:srgbClr val="3B82F6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276148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364992" y="2834640"/>
            <a:ext cx="6035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48640" y="3054096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tasks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65760" y="3703320"/>
            <a:ext cx="32004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46704" y="3822192"/>
            <a:ext cx="640080" cy="228600"/>
          </a:xfrm>
          <a:prstGeom prst="roundRect">
            <a:avLst>
              <a:gd name="adj" fmla="val 32000"/>
            </a:avLst>
          </a:prstGeom>
          <a:solidFill>
            <a:srgbClr val="10B981"/>
          </a:solidFill>
          <a:ln/>
        </p:spPr>
      </p:sp>
      <p:sp>
        <p:nvSpPr>
          <p:cNvPr id="27" name="Text 25"/>
          <p:cNvSpPr/>
          <p:nvPr/>
        </p:nvSpPr>
        <p:spPr>
          <a:xfrm>
            <a:off x="548640" y="376732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364992" y="3840480"/>
            <a:ext cx="6035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548640" y="4059936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tasks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65760" y="4709160"/>
            <a:ext cx="32004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46704" y="4828032"/>
            <a:ext cx="640080" cy="228600"/>
          </a:xfrm>
          <a:prstGeom prst="roundRect">
            <a:avLst>
              <a:gd name="adj" fmla="val 32000"/>
            </a:avLst>
          </a:prstGeom>
          <a:solidFill>
            <a:srgbClr val="94A3B8"/>
          </a:solidFill>
          <a:ln/>
        </p:spPr>
      </p:sp>
      <p:sp>
        <p:nvSpPr>
          <p:cNvPr id="32" name="Text 30"/>
          <p:cNvSpPr/>
          <p:nvPr/>
        </p:nvSpPr>
        <p:spPr>
          <a:xfrm>
            <a:off x="548640" y="477316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3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364992" y="4846320"/>
            <a:ext cx="6035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548640" y="5065776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tasks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840480" y="2359152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Tasks &amp; Backlog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3840480" y="2670048"/>
            <a:ext cx="7955280" cy="3310128"/>
          </a:xfrm>
          <a:prstGeom prst="roundRect">
            <a:avLst>
              <a:gd name="adj" fmla="val 3315"/>
            </a:avLst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14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3840480" y="2670048"/>
            <a:ext cx="7955280" cy="29260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950208" y="2761488"/>
            <a:ext cx="109728" cy="109728"/>
          </a:xfrm>
          <a:prstGeom prst="ellipse">
            <a:avLst/>
          </a:prstGeom>
          <a:solidFill>
            <a:srgbClr val="FC5C57"/>
          </a:solidFill>
          <a:ln/>
        </p:spPr>
      </p:sp>
      <p:sp>
        <p:nvSpPr>
          <p:cNvPr id="39" name="Shape 37"/>
          <p:cNvSpPr/>
          <p:nvPr/>
        </p:nvSpPr>
        <p:spPr>
          <a:xfrm>
            <a:off x="4114800" y="2761488"/>
            <a:ext cx="109728" cy="109728"/>
          </a:xfrm>
          <a:prstGeom prst="ellipse">
            <a:avLst/>
          </a:prstGeom>
          <a:solidFill>
            <a:srgbClr val="FDBC2C"/>
          </a:solidFill>
          <a:ln/>
        </p:spPr>
      </p:sp>
      <p:sp>
        <p:nvSpPr>
          <p:cNvPr id="40" name="Shape 38"/>
          <p:cNvSpPr/>
          <p:nvPr/>
        </p:nvSpPr>
        <p:spPr>
          <a:xfrm>
            <a:off x="4279392" y="2761488"/>
            <a:ext cx="109728" cy="109728"/>
          </a:xfrm>
          <a:prstGeom prst="ellipse">
            <a:avLst/>
          </a:prstGeom>
          <a:solidFill>
            <a:srgbClr val="34C84A"/>
          </a:solidFill>
          <a:ln/>
        </p:spPr>
      </p:sp>
      <p:sp>
        <p:nvSpPr>
          <p:cNvPr id="41" name="Shape 39"/>
          <p:cNvSpPr/>
          <p:nvPr/>
        </p:nvSpPr>
        <p:spPr>
          <a:xfrm>
            <a:off x="4480560" y="2715768"/>
            <a:ext cx="7040880" cy="201168"/>
          </a:xfrm>
          <a:prstGeom prst="roundRect">
            <a:avLst>
              <a:gd name="adj" fmla="val 18182"/>
            </a:avLst>
          </a:prstGeom>
          <a:solidFill>
            <a:srgbClr val="EEF2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26280" y="2734056"/>
            <a:ext cx="6949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366F1"/>
                </a:solidFill>
              </a:rPr>
              <a:t>localhost:5173 — PM Tool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3840480" y="2962656"/>
            <a:ext cx="7955280" cy="329184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44" name="Text 42"/>
          <p:cNvSpPr/>
          <p:nvPr/>
        </p:nvSpPr>
        <p:spPr>
          <a:xfrm>
            <a:off x="3977640" y="2999232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 — Tasks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840480" y="3328416"/>
            <a:ext cx="795528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4005072" y="3401568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CRITICAL  Implement authentication flow           • Ravi Kumar  • To Do    16h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3840480" y="3657600"/>
            <a:ext cx="7955280" cy="329184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48" name="Text 46"/>
          <p:cNvSpPr/>
          <p:nvPr/>
        </p:nvSpPr>
        <p:spPr>
          <a:xfrm>
            <a:off x="4005072" y="3730752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🟠 HIGH      Design new navigation component         • Anjali Singh • In Prog  8h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840480" y="3986784"/>
            <a:ext cx="795528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/>
          <p:nvPr/>
        </p:nvSpPr>
        <p:spPr>
          <a:xfrm>
            <a:off x="4005072" y="4059936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🟠 HIGH      Set up CI/CD pipeline                   • Ravi Kumar  • Review   6h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3840480" y="4315968"/>
            <a:ext cx="7955280" cy="329184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52" name="Text 50"/>
          <p:cNvSpPr/>
          <p:nvPr/>
        </p:nvSpPr>
        <p:spPr>
          <a:xfrm>
            <a:off x="4005072" y="4389120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🟡 MEDIUM    Customer dashboard wireframes            • Anjali Singh • Done     4h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3840480" y="4645152"/>
            <a:ext cx="795528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4005072" y="4718304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 ─ ─ ─ ─ ─ ─ ─ PRODUCT BACKLOG ─ ─ ─ ─ ─ ─ ─ ─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3840480" y="4974336"/>
            <a:ext cx="7955280" cy="329184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56" name="Text 54"/>
          <p:cNvSpPr/>
          <p:nvPr/>
        </p:nvSpPr>
        <p:spPr>
          <a:xfrm>
            <a:off x="4005072" y="5047488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⬜ MEDIUM    Define OpenAPI 3.1 specification  [+ Add to Sprint]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3840480" y="5303520"/>
            <a:ext cx="795528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4005072" y="5376672"/>
            <a:ext cx="7680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⬜ MEDIUM    Implement rate limiting middleware [+ Add to Sprint]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09728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Management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58368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task tracking, comments &amp; collaboration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51052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Council of India — Enterprise PM Tool   |   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704320" y="65105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1234440"/>
            <a:ext cx="5669280" cy="493776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9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1234440"/>
            <a:ext cx="5669280" cy="38404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0" name="Shape 8"/>
          <p:cNvSpPr/>
          <p:nvPr/>
        </p:nvSpPr>
        <p:spPr>
          <a:xfrm>
            <a:off x="365760" y="1435608"/>
            <a:ext cx="5669280" cy="1828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1298448"/>
            <a:ext cx="5303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SAMPLE-1   ·   Task Detail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1719072"/>
            <a:ext cx="5303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new navigation component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2176272"/>
            <a:ext cx="5303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Redesign the top navigation bar with improved UX and mobile support.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48640" y="265176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554480" y="26517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291840" y="265176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Priority: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297680" y="26517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48640" y="315468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Assignee: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554480" y="315468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Ravi Kumar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291840" y="315468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Reporter: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297680" y="315468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Anjali Singh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48640" y="365760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Date: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554480" y="365760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May 2026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291840" y="365760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Est. Hours: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297680" y="365760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8h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65760" y="4251960"/>
            <a:ext cx="566928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7" name="Text 25"/>
          <p:cNvSpPr/>
          <p:nvPr/>
        </p:nvSpPr>
        <p:spPr>
          <a:xfrm>
            <a:off x="548640" y="431596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Comments (2)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4663440"/>
            <a:ext cx="292608" cy="29260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4718304"/>
            <a:ext cx="2926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914400" y="46634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Anjali Singh: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914400" y="4864608"/>
            <a:ext cx="4937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test in Safari — there were animation issues.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48640" y="5321808"/>
            <a:ext cx="292608" cy="29260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33" name="Text 31"/>
          <p:cNvSpPr/>
          <p:nvPr/>
        </p:nvSpPr>
        <p:spPr>
          <a:xfrm>
            <a:off x="548640" y="5376672"/>
            <a:ext cx="2926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RK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914400" y="5321808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Ravi Kumar: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914400" y="5522976"/>
            <a:ext cx="4937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Safari issues fixed! Added Playwright cross-browser tests.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6309360" y="123444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Tasks Page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309360" y="1572768"/>
            <a:ext cx="548640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14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309360" y="1572768"/>
            <a:ext cx="5486400" cy="29260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19088" y="1664208"/>
            <a:ext cx="109728" cy="109728"/>
          </a:xfrm>
          <a:prstGeom prst="ellipse">
            <a:avLst/>
          </a:prstGeom>
          <a:solidFill>
            <a:srgbClr val="FC5C57"/>
          </a:solidFill>
          <a:ln/>
        </p:spPr>
      </p:sp>
      <p:sp>
        <p:nvSpPr>
          <p:cNvPr id="40" name="Shape 38"/>
          <p:cNvSpPr/>
          <p:nvPr/>
        </p:nvSpPr>
        <p:spPr>
          <a:xfrm>
            <a:off x="6583680" y="1664208"/>
            <a:ext cx="109728" cy="109728"/>
          </a:xfrm>
          <a:prstGeom prst="ellipse">
            <a:avLst/>
          </a:prstGeom>
          <a:solidFill>
            <a:srgbClr val="FDBC2C"/>
          </a:solidFill>
          <a:ln/>
        </p:spPr>
      </p:sp>
      <p:sp>
        <p:nvSpPr>
          <p:cNvPr id="41" name="Shape 39"/>
          <p:cNvSpPr/>
          <p:nvPr/>
        </p:nvSpPr>
        <p:spPr>
          <a:xfrm>
            <a:off x="6748272" y="1664208"/>
            <a:ext cx="109728" cy="109728"/>
          </a:xfrm>
          <a:prstGeom prst="ellipse">
            <a:avLst/>
          </a:prstGeom>
          <a:solidFill>
            <a:srgbClr val="34C84A"/>
          </a:solidFill>
          <a:ln/>
        </p:spPr>
      </p:sp>
      <p:sp>
        <p:nvSpPr>
          <p:cNvPr id="42" name="Shape 40"/>
          <p:cNvSpPr/>
          <p:nvPr/>
        </p:nvSpPr>
        <p:spPr>
          <a:xfrm>
            <a:off x="6949440" y="1618488"/>
            <a:ext cx="4572000" cy="201168"/>
          </a:xfrm>
          <a:prstGeom prst="roundRect">
            <a:avLst>
              <a:gd name="adj" fmla="val 18182"/>
            </a:avLst>
          </a:prstGeom>
          <a:solidFill>
            <a:srgbClr val="EEF2FF"/>
          </a:solidFill>
          <a:ln/>
        </p:spPr>
      </p:sp>
      <p:sp>
        <p:nvSpPr>
          <p:cNvPr id="43" name="Text 41"/>
          <p:cNvSpPr/>
          <p:nvPr/>
        </p:nvSpPr>
        <p:spPr>
          <a:xfrm>
            <a:off x="6995160" y="1636776"/>
            <a:ext cx="44805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366F1"/>
                </a:solidFill>
              </a:rPr>
              <a:t>localhost:5173 — PM Tool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6309360" y="1865376"/>
            <a:ext cx="5486400" cy="329184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45" name="Text 43"/>
          <p:cNvSpPr/>
          <p:nvPr/>
        </p:nvSpPr>
        <p:spPr>
          <a:xfrm>
            <a:off x="6446520" y="1901952"/>
            <a:ext cx="5212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Tasks — All Tasks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309360" y="2231136"/>
            <a:ext cx="548640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7" name="Text 45"/>
          <p:cNvSpPr/>
          <p:nvPr/>
        </p:nvSpPr>
        <p:spPr>
          <a:xfrm>
            <a:off x="6473952" y="2304288"/>
            <a:ext cx="5212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SAMPLE-1  Design navigation component  HIGH   Due May 10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309360" y="2560320"/>
            <a:ext cx="5486400" cy="329184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49" name="Text 47"/>
          <p:cNvSpPr/>
          <p:nvPr/>
        </p:nvSpPr>
        <p:spPr>
          <a:xfrm>
            <a:off x="6473952" y="2633472"/>
            <a:ext cx="5212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APIV3-1   OpenAPI specification         HIGH   Due May 20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6309360" y="2889504"/>
            <a:ext cx="548640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>
          <a:xfrm>
            <a:off x="6473952" y="2962656"/>
            <a:ext cx="5212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SAMPLE-2  Implement auth flow          CRIT   Due May 15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6309360" y="3218688"/>
            <a:ext cx="5486400" cy="329184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53" name="Text 51"/>
          <p:cNvSpPr/>
          <p:nvPr/>
        </p:nvSpPr>
        <p:spPr>
          <a:xfrm>
            <a:off x="6473952" y="3291840"/>
            <a:ext cx="5212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SAMPLE-3  Dashboard wireframes         MED    Completed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6309360" y="411480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Features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6309360" y="4434840"/>
            <a:ext cx="260604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6309360" y="4434840"/>
            <a:ext cx="2606040" cy="347472"/>
          </a:xfrm>
          <a:prstGeom prst="roundRect">
            <a:avLst>
              <a:gd name="adj" fmla="val 26316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309360" y="4617720"/>
            <a:ext cx="2606040" cy="16459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446520" y="4489704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Tasks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6446520" y="4837176"/>
            <a:ext cx="2331720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All tasks assigned to you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Filter: All / Open / Overdue / Done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Bulk: Mark Done, Set Priority, Delete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Search by title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9052560" y="4434840"/>
            <a:ext cx="260604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8000"/>
              </a:srgbClr>
            </a:outerShdw>
          </a:effectLst>
        </p:spPr>
      </p:sp>
      <p:sp>
        <p:nvSpPr>
          <p:cNvPr id="61" name="Shape 59"/>
          <p:cNvSpPr/>
          <p:nvPr/>
        </p:nvSpPr>
        <p:spPr>
          <a:xfrm>
            <a:off x="9052560" y="4434840"/>
            <a:ext cx="2606040" cy="347472"/>
          </a:xfrm>
          <a:prstGeom prst="roundRect">
            <a:avLst>
              <a:gd name="adj" fmla="val 26316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9052560" y="4617720"/>
            <a:ext cx="2606040" cy="16459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189720" y="4489704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Collaboration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9189720" y="4837176"/>
            <a:ext cx="2331720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Threaded comment system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Reply to specific comments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Edit &amp; delete own comments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PM can delete any comment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11155680" y="4434840"/>
            <a:ext cx="640080" cy="173736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8000"/>
              </a:srgbClr>
            </a:outerShdw>
          </a:effectLst>
        </p:spPr>
      </p:sp>
      <p:sp>
        <p:nvSpPr>
          <p:cNvPr id="66" name="Shape 64"/>
          <p:cNvSpPr/>
          <p:nvPr/>
        </p:nvSpPr>
        <p:spPr>
          <a:xfrm>
            <a:off x="11155680" y="4434840"/>
            <a:ext cx="6400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1155680" y="4617720"/>
            <a:ext cx="64008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11292840" y="4489704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09728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Management &amp; Onboarding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58368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Invite, manage, and control team access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51052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Council of India — Enterprise PM Tool   |   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704320" y="65105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65760" y="123444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Members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572768"/>
            <a:ext cx="585216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760" y="1572768"/>
            <a:ext cx="5852160" cy="29260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" y="1664208"/>
            <a:ext cx="109728" cy="109728"/>
          </a:xfrm>
          <a:prstGeom prst="ellipse">
            <a:avLst/>
          </a:prstGeom>
          <a:solidFill>
            <a:srgbClr val="FC5C57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1664208"/>
            <a:ext cx="109728" cy="109728"/>
          </a:xfrm>
          <a:prstGeom prst="ellipse">
            <a:avLst/>
          </a:prstGeom>
          <a:solidFill>
            <a:srgbClr val="FDBC2C"/>
          </a:solidFill>
          <a:ln/>
        </p:spPr>
      </p:sp>
      <p:sp>
        <p:nvSpPr>
          <p:cNvPr id="13" name="Shape 11"/>
          <p:cNvSpPr/>
          <p:nvPr/>
        </p:nvSpPr>
        <p:spPr>
          <a:xfrm>
            <a:off x="804672" y="1664208"/>
            <a:ext cx="109728" cy="109728"/>
          </a:xfrm>
          <a:prstGeom prst="ellipse">
            <a:avLst/>
          </a:prstGeom>
          <a:solidFill>
            <a:srgbClr val="34C84A"/>
          </a:solidFill>
          <a:ln/>
        </p:spPr>
      </p:sp>
      <p:sp>
        <p:nvSpPr>
          <p:cNvPr id="14" name="Shape 12"/>
          <p:cNvSpPr/>
          <p:nvPr/>
        </p:nvSpPr>
        <p:spPr>
          <a:xfrm>
            <a:off x="1005840" y="1618488"/>
            <a:ext cx="4937760" cy="201168"/>
          </a:xfrm>
          <a:prstGeom prst="roundRect">
            <a:avLst>
              <a:gd name="adj" fmla="val 18182"/>
            </a:avLst>
          </a:prstGeom>
          <a:solidFill>
            <a:srgbClr val="EEF2FF"/>
          </a:solidFill>
          <a:ln/>
        </p:spPr>
      </p:sp>
      <p:sp>
        <p:nvSpPr>
          <p:cNvPr id="15" name="Text 13"/>
          <p:cNvSpPr/>
          <p:nvPr/>
        </p:nvSpPr>
        <p:spPr>
          <a:xfrm>
            <a:off x="1051560" y="1636776"/>
            <a:ext cx="4846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366F1"/>
                </a:solidFill>
              </a:rPr>
              <a:t>localhost:5173 — PM Tool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365760" y="1865376"/>
            <a:ext cx="5852160" cy="329184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1901952"/>
            <a:ext cx="5577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Management — Active Members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5760" y="2231136"/>
            <a:ext cx="585216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530352" y="2304288"/>
            <a:ext cx="5577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Priya Sharma      org admin      ● active   Joined Jan 2026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65760" y="2560320"/>
            <a:ext cx="5852160" cy="329184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1" name="Text 19"/>
          <p:cNvSpPr/>
          <p:nvPr/>
        </p:nvSpPr>
        <p:spPr>
          <a:xfrm>
            <a:off x="530352" y="2633472"/>
            <a:ext cx="5577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Vikram Mehta      div admin      ● active   Joined Jan 2026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2889504"/>
            <a:ext cx="585216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530352" y="2962656"/>
            <a:ext cx="5577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Anjali Singh      proj manager   ● active   Joined Jan 2026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65760" y="3218688"/>
            <a:ext cx="5852160" cy="329184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5" name="Text 23"/>
          <p:cNvSpPr/>
          <p:nvPr/>
        </p:nvSpPr>
        <p:spPr>
          <a:xfrm>
            <a:off x="530352" y="3291840"/>
            <a:ext cx="5577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Ravi Kumar        member         ● active   Joined Jan 2026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547872"/>
            <a:ext cx="585216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530352" y="3621024"/>
            <a:ext cx="5577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Sunita Reddy      executive      ● active   Joined Jan 2026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877056"/>
            <a:ext cx="5852160" cy="329184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9" name="Text 27"/>
          <p:cNvSpPr/>
          <p:nvPr/>
        </p:nvSpPr>
        <p:spPr>
          <a:xfrm>
            <a:off x="530352" y="3950208"/>
            <a:ext cx="5577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Arjun Patel       viewer         ● active   Joined Feb 2026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492240" y="123444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Invites Tab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492240" y="1572768"/>
            <a:ext cx="54864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14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492240" y="1572768"/>
            <a:ext cx="5486400" cy="29260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601968" y="1664208"/>
            <a:ext cx="109728" cy="109728"/>
          </a:xfrm>
          <a:prstGeom prst="ellipse">
            <a:avLst/>
          </a:prstGeom>
          <a:solidFill>
            <a:srgbClr val="FC5C57"/>
          </a:solidFill>
          <a:ln/>
        </p:spPr>
      </p:sp>
      <p:sp>
        <p:nvSpPr>
          <p:cNvPr id="34" name="Shape 32"/>
          <p:cNvSpPr/>
          <p:nvPr/>
        </p:nvSpPr>
        <p:spPr>
          <a:xfrm>
            <a:off x="6766560" y="1664208"/>
            <a:ext cx="109728" cy="109728"/>
          </a:xfrm>
          <a:prstGeom prst="ellipse">
            <a:avLst/>
          </a:prstGeom>
          <a:solidFill>
            <a:srgbClr val="FDBC2C"/>
          </a:solidFill>
          <a:ln/>
        </p:spPr>
      </p:sp>
      <p:sp>
        <p:nvSpPr>
          <p:cNvPr id="35" name="Shape 33"/>
          <p:cNvSpPr/>
          <p:nvPr/>
        </p:nvSpPr>
        <p:spPr>
          <a:xfrm>
            <a:off x="6931152" y="1664208"/>
            <a:ext cx="109728" cy="109728"/>
          </a:xfrm>
          <a:prstGeom prst="ellipse">
            <a:avLst/>
          </a:prstGeom>
          <a:solidFill>
            <a:srgbClr val="34C84A"/>
          </a:solidFill>
          <a:ln/>
        </p:spPr>
      </p:sp>
      <p:sp>
        <p:nvSpPr>
          <p:cNvPr id="36" name="Shape 34"/>
          <p:cNvSpPr/>
          <p:nvPr/>
        </p:nvSpPr>
        <p:spPr>
          <a:xfrm>
            <a:off x="7132320" y="1618488"/>
            <a:ext cx="4572000" cy="201168"/>
          </a:xfrm>
          <a:prstGeom prst="roundRect">
            <a:avLst>
              <a:gd name="adj" fmla="val 18182"/>
            </a:avLst>
          </a:prstGeom>
          <a:solidFill>
            <a:srgbClr val="EEF2FF"/>
          </a:solidFill>
          <a:ln/>
        </p:spPr>
      </p:sp>
      <p:sp>
        <p:nvSpPr>
          <p:cNvPr id="37" name="Text 35"/>
          <p:cNvSpPr/>
          <p:nvPr/>
        </p:nvSpPr>
        <p:spPr>
          <a:xfrm>
            <a:off x="7178040" y="1636776"/>
            <a:ext cx="44805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366F1"/>
                </a:solidFill>
              </a:rPr>
              <a:t>localhost:5173 — PM Tool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6492240" y="1865376"/>
            <a:ext cx="5486400" cy="329184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9" name="Text 37"/>
          <p:cNvSpPr/>
          <p:nvPr/>
        </p:nvSpPr>
        <p:spPr>
          <a:xfrm>
            <a:off x="6629400" y="1901952"/>
            <a:ext cx="5212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Management — Pending Invites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492240" y="2231136"/>
            <a:ext cx="548640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Text 39"/>
          <p:cNvSpPr/>
          <p:nvPr/>
        </p:nvSpPr>
        <p:spPr>
          <a:xfrm>
            <a:off x="6656832" y="2304288"/>
            <a:ext cx="5212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📧 colleague@company.com   member   Sent Apr 23   Expires Apr 30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6492240" y="2560320"/>
            <a:ext cx="5486400" cy="329184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43" name="Text 41"/>
          <p:cNvSpPr/>
          <p:nvPr/>
        </p:nvSpPr>
        <p:spPr>
          <a:xfrm>
            <a:off x="6656832" y="2633472"/>
            <a:ext cx="5212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📧 manager@partner.org     pm       Sent Apr 22   Expires Apr 29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6492240" y="3520440"/>
            <a:ext cx="5486400" cy="29260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6675120" y="36576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Invite Team Member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6675120" y="40690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Address *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675120" y="4325112"/>
            <a:ext cx="5120640" cy="347472"/>
          </a:xfrm>
          <a:prstGeom prst="roundRect">
            <a:avLst>
              <a:gd name="adj" fmla="val 15789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812280" y="4407408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colleague@company.com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675120" y="477316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675120" y="5029200"/>
            <a:ext cx="5120640" cy="347472"/>
          </a:xfrm>
          <a:prstGeom prst="roundRect">
            <a:avLst>
              <a:gd name="adj" fmla="val 15789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12280" y="5102352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 ▼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9601200" y="5559552"/>
            <a:ext cx="2194560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/>
        </p:spPr>
      </p:sp>
      <p:sp>
        <p:nvSpPr>
          <p:cNvPr id="53" name="Text 51"/>
          <p:cNvSpPr/>
          <p:nvPr/>
        </p:nvSpPr>
        <p:spPr>
          <a:xfrm>
            <a:off x="9601200" y="5632704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✉  Send Invite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365760" y="4919472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Capabilities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365760" y="5230368"/>
            <a:ext cx="2834640" cy="347472"/>
          </a:xfrm>
          <a:prstGeom prst="roundRect">
            <a:avLst>
              <a:gd name="adj" fmla="val 15789"/>
            </a:avLst>
          </a:prstGeom>
          <a:solidFill>
            <a:srgbClr val="EFF6FF"/>
          </a:solidFill>
          <a:ln/>
        </p:spPr>
      </p:sp>
      <p:sp>
        <p:nvSpPr>
          <p:cNvPr id="56" name="Text 54"/>
          <p:cNvSpPr/>
          <p:nvPr/>
        </p:nvSpPr>
        <p:spPr>
          <a:xfrm>
            <a:off x="502920" y="5303520"/>
            <a:ext cx="2651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Real Gmail SMTP email delivery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3337560" y="5230368"/>
            <a:ext cx="2834640" cy="347472"/>
          </a:xfrm>
          <a:prstGeom prst="roundRect">
            <a:avLst>
              <a:gd name="adj" fmla="val 15789"/>
            </a:avLst>
          </a:prstGeom>
          <a:solidFill>
            <a:srgbClr val="EFF6FF"/>
          </a:solidFill>
          <a:ln/>
        </p:spPr>
      </p:sp>
      <p:sp>
        <p:nvSpPr>
          <p:cNvPr id="58" name="Text 56"/>
          <p:cNvSpPr/>
          <p:nvPr/>
        </p:nvSpPr>
        <p:spPr>
          <a:xfrm>
            <a:off x="3474720" y="5303520"/>
            <a:ext cx="2651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Invite link expires in 7 days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365760" y="5669280"/>
            <a:ext cx="2834640" cy="347472"/>
          </a:xfrm>
          <a:prstGeom prst="roundRect">
            <a:avLst>
              <a:gd name="adj" fmla="val 15789"/>
            </a:avLst>
          </a:prstGeom>
          <a:solidFill>
            <a:srgbClr val="EFF6FF"/>
          </a:solidFill>
          <a:ln/>
        </p:spPr>
      </p:sp>
      <p:sp>
        <p:nvSpPr>
          <p:cNvPr id="60" name="Text 58"/>
          <p:cNvSpPr/>
          <p:nvPr/>
        </p:nvSpPr>
        <p:spPr>
          <a:xfrm>
            <a:off x="502920" y="5742432"/>
            <a:ext cx="2651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Duplicate invite detection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3337560" y="5669280"/>
            <a:ext cx="2834640" cy="347472"/>
          </a:xfrm>
          <a:prstGeom prst="roundRect">
            <a:avLst>
              <a:gd name="adj" fmla="val 15789"/>
            </a:avLst>
          </a:prstGeom>
          <a:solidFill>
            <a:srgbClr val="EFF6FF"/>
          </a:solidFill>
          <a:ln/>
        </p:spPr>
      </p:sp>
      <p:sp>
        <p:nvSpPr>
          <p:cNvPr id="62" name="Text 60"/>
          <p:cNvSpPr/>
          <p:nvPr/>
        </p:nvSpPr>
        <p:spPr>
          <a:xfrm>
            <a:off x="3474720" y="5742432"/>
            <a:ext cx="2651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Suspend / Reactivate members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365760" y="6108192"/>
            <a:ext cx="2834640" cy="347472"/>
          </a:xfrm>
          <a:prstGeom prst="roundRect">
            <a:avLst>
              <a:gd name="adj" fmla="val 15789"/>
            </a:avLst>
          </a:prstGeom>
          <a:solidFill>
            <a:srgbClr val="EFF6FF"/>
          </a:solidFill>
          <a:ln/>
        </p:spPr>
      </p:sp>
      <p:sp>
        <p:nvSpPr>
          <p:cNvPr id="64" name="Text 62"/>
          <p:cNvSpPr/>
          <p:nvPr/>
        </p:nvSpPr>
        <p:spPr>
          <a:xfrm>
            <a:off x="502920" y="6181344"/>
            <a:ext cx="2651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Role change in one click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3337560" y="6108192"/>
            <a:ext cx="2834640" cy="347472"/>
          </a:xfrm>
          <a:prstGeom prst="roundRect">
            <a:avLst>
              <a:gd name="adj" fmla="val 15789"/>
            </a:avLst>
          </a:prstGeom>
          <a:solidFill>
            <a:srgbClr val="EFF6FF"/>
          </a:solidFill>
          <a:ln/>
        </p:spPr>
      </p:sp>
      <p:sp>
        <p:nvSpPr>
          <p:cNvPr id="66" name="Text 64"/>
          <p:cNvSpPr/>
          <p:nvPr/>
        </p:nvSpPr>
        <p:spPr>
          <a:xfrm>
            <a:off x="3474720" y="6181344"/>
            <a:ext cx="2651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Cancel pending invites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09728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 Management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58368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Multi-division enterprise structure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51052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Council of India — Enterprise PM Tool   |   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704320" y="65105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1280160"/>
            <a:ext cx="356616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1280160"/>
            <a:ext cx="3566160" cy="384048"/>
          </a:xfrm>
          <a:prstGeom prst="roundRect">
            <a:avLst>
              <a:gd name="adj" fmla="val 28571"/>
            </a:avLst>
          </a:prstGeom>
          <a:solidFill>
            <a:srgbClr val="3B82F6"/>
          </a:solidFill>
          <a:ln/>
        </p:spPr>
      </p:sp>
      <p:sp>
        <p:nvSpPr>
          <p:cNvPr id="10" name="Shape 8"/>
          <p:cNvSpPr/>
          <p:nvPr/>
        </p:nvSpPr>
        <p:spPr>
          <a:xfrm>
            <a:off x="365760" y="1481328"/>
            <a:ext cx="3566160" cy="1828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344168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" y="1847088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02920" y="2231136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645920" y="1847088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45920" y="2231136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2788920" y="1847088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₹50L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788920" y="2231136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02920" y="2578608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Code: ENG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206240" y="1280160"/>
            <a:ext cx="356616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206240" y="1280160"/>
            <a:ext cx="3566160" cy="384048"/>
          </a:xfrm>
          <a:prstGeom prst="roundRect">
            <a:avLst>
              <a:gd name="adj" fmla="val 28571"/>
            </a:avLst>
          </a:prstGeom>
          <a:solidFill>
            <a:srgbClr val="10B981"/>
          </a:solidFill>
          <a:ln/>
        </p:spPr>
      </p:sp>
      <p:sp>
        <p:nvSpPr>
          <p:cNvPr id="21" name="Shape 19"/>
          <p:cNvSpPr/>
          <p:nvPr/>
        </p:nvSpPr>
        <p:spPr>
          <a:xfrm>
            <a:off x="4206240" y="1481328"/>
            <a:ext cx="3566160" cy="1828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2" name="Text 20"/>
          <p:cNvSpPr/>
          <p:nvPr/>
        </p:nvSpPr>
        <p:spPr>
          <a:xfrm>
            <a:off x="4343400" y="1344168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&amp; Marketing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343400" y="1847088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4343400" y="2231136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486400" y="1847088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5486400" y="2231136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6629400" y="1847088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₹20L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629400" y="2231136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343400" y="2578608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Code: SALES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8046720" y="1280160"/>
            <a:ext cx="356616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046720" y="1280160"/>
            <a:ext cx="3566160" cy="384048"/>
          </a:xfrm>
          <a:prstGeom prst="roundRect">
            <a:avLst>
              <a:gd name="adj" fmla="val 28571"/>
            </a:avLst>
          </a:prstGeom>
          <a:solidFill>
            <a:srgbClr val="F59E0B"/>
          </a:solidFill>
          <a:ln/>
        </p:spPr>
      </p:sp>
      <p:sp>
        <p:nvSpPr>
          <p:cNvPr id="32" name="Shape 30"/>
          <p:cNvSpPr/>
          <p:nvPr/>
        </p:nvSpPr>
        <p:spPr>
          <a:xfrm>
            <a:off x="8046720" y="1481328"/>
            <a:ext cx="3566160" cy="1828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3" name="Text 31"/>
          <p:cNvSpPr/>
          <p:nvPr/>
        </p:nvSpPr>
        <p:spPr>
          <a:xfrm>
            <a:off x="8183880" y="1344168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Resources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183880" y="1847088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8183880" y="2231136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9326880" y="1847088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9326880" y="2231136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0469880" y="1847088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₹10L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0469880" y="2231136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8183880" y="2578608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Code: HR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365760" y="3456432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 Capabilities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365760" y="3822192"/>
            <a:ext cx="274320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8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365760" y="3822192"/>
            <a:ext cx="2743200" cy="347472"/>
          </a:xfrm>
          <a:prstGeom prst="roundRect">
            <a:avLst>
              <a:gd name="adj" fmla="val 26316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65760" y="4005072"/>
            <a:ext cx="2743200" cy="16459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02920" y="3877056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02920" y="4224528"/>
            <a:ext cx="2468880" cy="1810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Create division hierarchy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Parent-child divisions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Unique division codes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Color-coded divisions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3291840" y="3822192"/>
            <a:ext cx="274320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3291840" y="3822192"/>
            <a:ext cx="2743200" cy="347472"/>
          </a:xfrm>
          <a:prstGeom prst="roundRect">
            <a:avLst>
              <a:gd name="adj" fmla="val 26316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291840" y="4005072"/>
            <a:ext cx="2743200" cy="16459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29000" y="3877056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Access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3429000" y="4224528"/>
            <a:ext cx="2468880" cy="1810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Assign members per division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Division-specific roles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Remove division members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Member count tracking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217920" y="3822192"/>
            <a:ext cx="274320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8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6217920" y="3822192"/>
            <a:ext cx="2743200" cy="347472"/>
          </a:xfrm>
          <a:prstGeom prst="roundRect">
            <a:avLst>
              <a:gd name="adj" fmla="val 26316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217920" y="4005072"/>
            <a:ext cx="2743200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55080" y="3877056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Config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6355080" y="4224528"/>
            <a:ext cx="2468880" cy="1810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Enable/disable modules per division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Time tracking toggle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Sprint &amp; calendar toggle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AI &amp; exports toggle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9144000" y="3822192"/>
            <a:ext cx="274320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8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9144000" y="3822192"/>
            <a:ext cx="2743200" cy="347472"/>
          </a:xfrm>
          <a:prstGeom prst="roundRect">
            <a:avLst>
              <a:gd name="adj" fmla="val 26316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144000" y="4005072"/>
            <a:ext cx="2743200" cy="16459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9281160" y="3877056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9281160" y="4224528"/>
            <a:ext cx="2468880" cy="1810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Budget allocation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Headcount management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Handoff readiness checklist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Division admin assignment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09728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&amp; Approvals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58368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Customizable workflows and multi-step approval chains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51052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Council of India — Enterprise PM Tool   |   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704320" y="65105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65760" y="126187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Workflow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1664208"/>
            <a:ext cx="1920240" cy="548640"/>
          </a:xfrm>
          <a:prstGeom prst="roundRect">
            <a:avLst>
              <a:gd name="adj" fmla="val 13333"/>
            </a:avLst>
          </a:prstGeom>
          <a:solidFill>
            <a:srgbClr val="64748B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1810512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304288" y="1810512"/>
            <a:ext cx="2377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560320" y="1664208"/>
            <a:ext cx="1920240" cy="548640"/>
          </a:xfrm>
          <a:prstGeom prst="roundRect">
            <a:avLst>
              <a:gd name="adj" fmla="val 13333"/>
            </a:avLst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2560320" y="1810512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98848" y="1810512"/>
            <a:ext cx="2377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754880" y="1664208"/>
            <a:ext cx="1920240" cy="548640"/>
          </a:xfrm>
          <a:prstGeom prst="roundRect">
            <a:avLst>
              <a:gd name="adj" fmla="val 13333"/>
            </a:avLst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4754880" y="1810512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693408" y="1810512"/>
            <a:ext cx="2377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949440" y="1664208"/>
            <a:ext cx="1920240" cy="548640"/>
          </a:xfrm>
          <a:prstGeom prst="roundRect">
            <a:avLst>
              <a:gd name="adj" fmla="val 13333"/>
            </a:avLst>
          </a:prstGeom>
          <a:solidFill>
            <a:srgbClr val="8B5CF6"/>
          </a:solidFill>
          <a:ln/>
        </p:spPr>
      </p:sp>
      <p:sp>
        <p:nvSpPr>
          <p:cNvPr id="19" name="Text 17"/>
          <p:cNvSpPr/>
          <p:nvPr/>
        </p:nvSpPr>
        <p:spPr>
          <a:xfrm>
            <a:off x="6949440" y="1810512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Review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887968" y="1810512"/>
            <a:ext cx="2377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9144000" y="1664208"/>
            <a:ext cx="1920240" cy="548640"/>
          </a:xfrm>
          <a:prstGeom prst="roundRect">
            <a:avLst>
              <a:gd name="adj" fmla="val 13333"/>
            </a:avLst>
          </a:prstGeom>
          <a:solidFill>
            <a:srgbClr val="10B981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0" y="1810512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" y="2423160"/>
            <a:ext cx="347472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65760" y="2423160"/>
            <a:ext cx="3474720" cy="347472"/>
          </a:xfrm>
          <a:prstGeom prst="roundRect">
            <a:avLst>
              <a:gd name="adj" fmla="val 26316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" y="2606040"/>
            <a:ext cx="3474720" cy="16459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247802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Workflows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02920" y="2825496"/>
            <a:ext cx="32004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Add/remove/reorder statuses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Set initial &amp; final statuses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Custom status colors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Per-project workflow assignment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023360" y="2423160"/>
            <a:ext cx="347472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023360" y="2423160"/>
            <a:ext cx="3474720" cy="347472"/>
          </a:xfrm>
          <a:prstGeom prst="roundRect">
            <a:avLst>
              <a:gd name="adj" fmla="val 26316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023360" y="2606040"/>
            <a:ext cx="3474720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160520" y="247802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Chains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160520" y="2825496"/>
            <a:ext cx="32004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Multi-step approval sequence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Assign approvers per step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Approve / Reject with notes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Full audit trail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680960" y="2423160"/>
            <a:ext cx="347472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7680960" y="2423160"/>
            <a:ext cx="3474720" cy="347472"/>
          </a:xfrm>
          <a:prstGeom prst="roundRect">
            <a:avLst>
              <a:gd name="adj" fmla="val 26316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680960" y="2606040"/>
            <a:ext cx="3474720" cy="16459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818120" y="247802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Inbox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818120" y="2825496"/>
            <a:ext cx="32004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Pending approvals dashboard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One-click approve/reject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Filter by status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Notifications on decisions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65760" y="4407408"/>
            <a:ext cx="530352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365760" y="4407408"/>
            <a:ext cx="5303520" cy="347472"/>
          </a:xfrm>
          <a:prstGeom prst="roundRect">
            <a:avLst>
              <a:gd name="adj" fmla="val 26316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5760" y="4590288"/>
            <a:ext cx="5303520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02920" y="446227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 &amp; Submissions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02920" y="4809744"/>
            <a:ext cx="5029200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Create custom intake forms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Submit forms to trigger workflows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Form submissions feed into task queue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Track submission status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852160" y="4407408"/>
            <a:ext cx="530352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5852160" y="4407408"/>
            <a:ext cx="5303520" cy="347472"/>
          </a:xfrm>
          <a:prstGeom prst="roundRect">
            <a:avLst>
              <a:gd name="adj" fmla="val 26316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852160" y="4590288"/>
            <a:ext cx="5303520" cy="16459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989320" y="446227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Versioning &amp; Audit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989320" y="4809744"/>
            <a:ext cx="5029200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Entity history for tasks/projects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Who changed what and when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Create point-in-time snapshots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Restore previous versions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09728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Tracking &amp; Timesheets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58368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Log, review, and approve work hours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51052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Council of India — Enterprise PM Tool   |   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704320" y="65105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1280160"/>
            <a:ext cx="5943600" cy="347472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1280160"/>
            <a:ext cx="5943600" cy="29260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" y="1371600"/>
            <a:ext cx="109728" cy="109728"/>
          </a:xfrm>
          <a:prstGeom prst="ellipse">
            <a:avLst/>
          </a:prstGeom>
          <a:solidFill>
            <a:srgbClr val="FC5C57"/>
          </a:solidFill>
          <a:ln/>
        </p:spPr>
      </p:sp>
      <p:sp>
        <p:nvSpPr>
          <p:cNvPr id="11" name="Shape 9"/>
          <p:cNvSpPr/>
          <p:nvPr/>
        </p:nvSpPr>
        <p:spPr>
          <a:xfrm>
            <a:off x="640080" y="1371600"/>
            <a:ext cx="109728" cy="109728"/>
          </a:xfrm>
          <a:prstGeom prst="ellipse">
            <a:avLst/>
          </a:prstGeom>
          <a:solidFill>
            <a:srgbClr val="FDBC2C"/>
          </a:solidFill>
          <a:ln/>
        </p:spPr>
      </p:sp>
      <p:sp>
        <p:nvSpPr>
          <p:cNvPr id="12" name="Shape 10"/>
          <p:cNvSpPr/>
          <p:nvPr/>
        </p:nvSpPr>
        <p:spPr>
          <a:xfrm>
            <a:off x="804672" y="1371600"/>
            <a:ext cx="109728" cy="109728"/>
          </a:xfrm>
          <a:prstGeom prst="ellipse">
            <a:avLst/>
          </a:prstGeom>
          <a:solidFill>
            <a:srgbClr val="34C84A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5840" y="1325880"/>
            <a:ext cx="5029200" cy="201168"/>
          </a:xfrm>
          <a:prstGeom prst="roundRect">
            <a:avLst>
              <a:gd name="adj" fmla="val 18182"/>
            </a:avLst>
          </a:prstGeom>
          <a:solidFill>
            <a:srgbClr val="EEF2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51560" y="1344168"/>
            <a:ext cx="4937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366F1"/>
                </a:solidFill>
              </a:rPr>
              <a:t>localhost:5173 — PM Tool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65760" y="1572768"/>
            <a:ext cx="5943600" cy="329184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1609344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Logging — Weekly View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938528"/>
            <a:ext cx="594360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2011680"/>
            <a:ext cx="5669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Week: 21 Apr – 27 Apr 2026    Total: 32h / 40h target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2267712"/>
            <a:ext cx="5943600" cy="329184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0" name="Text 18"/>
          <p:cNvSpPr/>
          <p:nvPr/>
        </p:nvSpPr>
        <p:spPr>
          <a:xfrm>
            <a:off x="530352" y="2340864"/>
            <a:ext cx="5669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365760" y="2596896"/>
            <a:ext cx="594360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" y="2670048"/>
            <a:ext cx="5669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 Tue  Wed  Thu  Fri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2926080"/>
            <a:ext cx="5943600" cy="329184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4" name="Text 22"/>
          <p:cNvSpPr/>
          <p:nvPr/>
        </p:nvSpPr>
        <p:spPr>
          <a:xfrm>
            <a:off x="530352" y="2999232"/>
            <a:ext cx="5669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8h   6h   7h   5h   6h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55264"/>
            <a:ext cx="594360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530352" y="3328416"/>
            <a:ext cx="5669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65760" y="3584448"/>
            <a:ext cx="5943600" cy="329184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8" name="Text 26"/>
          <p:cNvSpPr/>
          <p:nvPr/>
        </p:nvSpPr>
        <p:spPr>
          <a:xfrm>
            <a:off x="530352" y="3657600"/>
            <a:ext cx="5669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Project   ██████████████   18h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913632"/>
            <a:ext cx="594360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530352" y="3986784"/>
            <a:ext cx="5669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Platform v3  ████████         14h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65760" y="4242816"/>
            <a:ext cx="5943600" cy="329184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2" name="Text 30"/>
          <p:cNvSpPr/>
          <p:nvPr/>
        </p:nvSpPr>
        <p:spPr>
          <a:xfrm>
            <a:off x="530352" y="4315968"/>
            <a:ext cx="5669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6492240" y="1280160"/>
            <a:ext cx="265176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492240" y="1280160"/>
            <a:ext cx="2651760" cy="347472"/>
          </a:xfrm>
          <a:prstGeom prst="roundRect">
            <a:avLst>
              <a:gd name="adj" fmla="val 26316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92240" y="1463040"/>
            <a:ext cx="2651760" cy="16459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29400" y="1335024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Time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629400" y="1682496"/>
            <a:ext cx="2377440" cy="1216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Log against task or project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Date picker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Description field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Edit / delete entries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326880" y="1280160"/>
            <a:ext cx="265176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9326880" y="1280160"/>
            <a:ext cx="2651760" cy="347472"/>
          </a:xfrm>
          <a:prstGeom prst="roundRect">
            <a:avLst>
              <a:gd name="adj" fmla="val 26316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326880" y="1463040"/>
            <a:ext cx="2651760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464040" y="1335024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Timesheets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9464040" y="1682496"/>
            <a:ext cx="2377440" cy="1216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Weekly timesheet view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Submit to manager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Track approval status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Manager approve/reject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6492240" y="3127248"/>
            <a:ext cx="2651760" cy="1627632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6492240" y="3127248"/>
            <a:ext cx="2651760" cy="347472"/>
          </a:xfrm>
          <a:prstGeom prst="roundRect">
            <a:avLst>
              <a:gd name="adj" fmla="val 26316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492240" y="3310128"/>
            <a:ext cx="2651760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629400" y="318211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6629400" y="3529584"/>
            <a:ext cx="2377440" cy="1152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By-day breakdown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By-project breakdown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Org-wide time summary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Export to CSV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9326880" y="3127248"/>
            <a:ext cx="2651760" cy="1627632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8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9326880" y="3127248"/>
            <a:ext cx="2651760" cy="347472"/>
          </a:xfrm>
          <a:prstGeom prst="roundRect">
            <a:avLst>
              <a:gd name="adj" fmla="val 26316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326880" y="3310128"/>
            <a:ext cx="2651760" cy="16459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464040" y="318211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9464040" y="3529584"/>
            <a:ext cx="2377440" cy="1152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Admin sees all timesheets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Approve in bulk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Reject with note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Utilization trends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365760" y="4956048"/>
            <a:ext cx="2377440" cy="1188720"/>
          </a:xfrm>
          <a:prstGeom prst="roundRect">
            <a:avLst>
              <a:gd name="adj" fmla="val 9231"/>
            </a:avLst>
          </a:prstGeom>
          <a:solidFill>
            <a:srgbClr val="3B82F6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365760" y="5047488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40h</a:t>
            </a:r>
            <a:endParaRPr lang="en-US" sz="2800" dirty="0"/>
          </a:p>
        </p:txBody>
      </p:sp>
      <p:sp>
        <p:nvSpPr>
          <p:cNvPr id="55" name="Text 53"/>
          <p:cNvSpPr/>
          <p:nvPr/>
        </p:nvSpPr>
        <p:spPr>
          <a:xfrm>
            <a:off x="365760" y="5614416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Target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3200400" y="4956048"/>
            <a:ext cx="2377440" cy="1188720"/>
          </a:xfrm>
          <a:prstGeom prst="roundRect">
            <a:avLst>
              <a:gd name="adj" fmla="val 9231"/>
            </a:avLst>
          </a:prstGeom>
          <a:solidFill>
            <a:srgbClr val="10B981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3200400" y="5047488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32h</a:t>
            </a:r>
            <a:endParaRPr lang="en-US" sz="2800" dirty="0"/>
          </a:p>
        </p:txBody>
      </p:sp>
      <p:sp>
        <p:nvSpPr>
          <p:cNvPr id="58" name="Text 56"/>
          <p:cNvSpPr/>
          <p:nvPr/>
        </p:nvSpPr>
        <p:spPr>
          <a:xfrm>
            <a:off x="3200400" y="5614416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Logged This Week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6035040" y="4956048"/>
            <a:ext cx="2377440" cy="1188720"/>
          </a:xfrm>
          <a:prstGeom prst="roundRect">
            <a:avLst>
              <a:gd name="adj" fmla="val 9231"/>
            </a:avLst>
          </a:prstGeom>
          <a:solidFill>
            <a:srgbClr val="F59E0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6035040" y="5047488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800" dirty="0"/>
          </a:p>
        </p:txBody>
      </p:sp>
      <p:sp>
        <p:nvSpPr>
          <p:cNvPr id="61" name="Text 59"/>
          <p:cNvSpPr/>
          <p:nvPr/>
        </p:nvSpPr>
        <p:spPr>
          <a:xfrm>
            <a:off x="6035040" y="5614416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8869680" y="4956048"/>
            <a:ext cx="2377440" cy="1188720"/>
          </a:xfrm>
          <a:prstGeom prst="roundRect">
            <a:avLst>
              <a:gd name="adj" fmla="val 9231"/>
            </a:avLst>
          </a:prstGeom>
          <a:solidFill>
            <a:srgbClr val="DC2626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8869680" y="5047488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64" name="Text 62"/>
          <p:cNvSpPr/>
          <p:nvPr/>
        </p:nvSpPr>
        <p:spPr>
          <a:xfrm>
            <a:off x="8869680" y="5614416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Approvals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09728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&amp; Capacity Planning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58368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visibility into project health and team utilization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51052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Council of India — Enterprise PM Tool   |   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704320" y="65105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65760" y="1261872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Health Dashboard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600200"/>
            <a:ext cx="1371600" cy="3200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0" name="Text 8"/>
          <p:cNvSpPr/>
          <p:nvPr/>
        </p:nvSpPr>
        <p:spPr>
          <a:xfrm>
            <a:off x="411480" y="1664208"/>
            <a:ext cx="1325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783080" y="1600200"/>
            <a:ext cx="1371600" cy="3200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1828800" y="1664208"/>
            <a:ext cx="1325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00400" y="1600200"/>
            <a:ext cx="1371600" cy="3200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4" name="Text 12"/>
          <p:cNvSpPr/>
          <p:nvPr/>
        </p:nvSpPr>
        <p:spPr>
          <a:xfrm>
            <a:off x="3246120" y="1664208"/>
            <a:ext cx="1325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17720" y="1600200"/>
            <a:ext cx="1371600" cy="3200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4663440" y="1664208"/>
            <a:ext cx="1325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65760" y="1920240"/>
            <a:ext cx="56692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11480" y="1993392"/>
            <a:ext cx="1325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Project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828800" y="1993392"/>
            <a:ext cx="1325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65%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246120" y="1984248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3246120" y="2029968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663440" y="1993392"/>
            <a:ext cx="1325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Track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2395728"/>
            <a:ext cx="5669280" cy="4572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4" name="Text 22"/>
          <p:cNvSpPr/>
          <p:nvPr/>
        </p:nvSpPr>
        <p:spPr>
          <a:xfrm>
            <a:off x="411480" y="2468880"/>
            <a:ext cx="1325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Platform v3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828800" y="2468880"/>
            <a:ext cx="1325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246120" y="2459736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3246120" y="2505456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663440" y="2468880"/>
            <a:ext cx="1325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Risk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65760" y="2871216"/>
            <a:ext cx="56692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11480" y="2944368"/>
            <a:ext cx="1325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Lead Campaign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828800" y="2944368"/>
            <a:ext cx="1325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246120" y="2935224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/>
        </p:spPr>
      </p:sp>
      <p:sp>
        <p:nvSpPr>
          <p:cNvPr id="33" name="Text 31"/>
          <p:cNvSpPr/>
          <p:nvPr/>
        </p:nvSpPr>
        <p:spPr>
          <a:xfrm>
            <a:off x="3246120" y="2980944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663440" y="2944368"/>
            <a:ext cx="1325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Track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5760" y="3346704"/>
            <a:ext cx="5669280" cy="4572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6" name="Text 34"/>
          <p:cNvSpPr/>
          <p:nvPr/>
        </p:nvSpPr>
        <p:spPr>
          <a:xfrm>
            <a:off x="411480" y="3419856"/>
            <a:ext cx="1325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Review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828800" y="3419856"/>
            <a:ext cx="1325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46120" y="3410712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F59E0B"/>
          </a:solidFill>
          <a:ln/>
        </p:spPr>
      </p:sp>
      <p:sp>
        <p:nvSpPr>
          <p:cNvPr id="39" name="Text 37"/>
          <p:cNvSpPr/>
          <p:nvPr/>
        </p:nvSpPr>
        <p:spPr>
          <a:xfrm>
            <a:off x="3246120" y="3456432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663440" y="3419856"/>
            <a:ext cx="1325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Track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65760" y="3913632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= 40% Progress + 30% Budget Efficiency + 30% Blocked Task Penalty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400800" y="1261872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Planning — Utilization Heatmap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7498080" y="1627632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1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8778240" y="1627632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2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0058400" y="1627632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3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11338560" y="1627632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4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446520" y="1993392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Ravi Kumar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7498080" y="1993392"/>
            <a:ext cx="1097280" cy="457200"/>
          </a:xfrm>
          <a:prstGeom prst="roundRect">
            <a:avLst>
              <a:gd name="adj" fmla="val 12000"/>
            </a:avLst>
          </a:prstGeom>
          <a:solidFill>
            <a:srgbClr val="3B82F6"/>
          </a:solidFill>
          <a:ln/>
        </p:spPr>
      </p:sp>
      <p:sp>
        <p:nvSpPr>
          <p:cNvPr id="49" name="Text 47"/>
          <p:cNvSpPr/>
          <p:nvPr/>
        </p:nvSpPr>
        <p:spPr>
          <a:xfrm>
            <a:off x="7498080" y="21031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8778240" y="1993392"/>
            <a:ext cx="1097280" cy="457200"/>
          </a:xfrm>
          <a:prstGeom prst="roundRect">
            <a:avLst>
              <a:gd name="adj" fmla="val 12000"/>
            </a:avLst>
          </a:prstGeom>
          <a:solidFill>
            <a:srgbClr val="F59E0B"/>
          </a:solidFill>
          <a:ln/>
        </p:spPr>
      </p:sp>
      <p:sp>
        <p:nvSpPr>
          <p:cNvPr id="51" name="Text 49"/>
          <p:cNvSpPr/>
          <p:nvPr/>
        </p:nvSpPr>
        <p:spPr>
          <a:xfrm>
            <a:off x="8778240" y="21031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10058400" y="1993392"/>
            <a:ext cx="1097280" cy="457200"/>
          </a:xfrm>
          <a:prstGeom prst="roundRect">
            <a:avLst>
              <a:gd name="adj" fmla="val 12000"/>
            </a:avLst>
          </a:prstGeom>
          <a:solidFill>
            <a:srgbClr val="F59E0B"/>
          </a:solidFill>
          <a:ln/>
        </p:spPr>
      </p:sp>
      <p:sp>
        <p:nvSpPr>
          <p:cNvPr id="53" name="Text 51"/>
          <p:cNvSpPr/>
          <p:nvPr/>
        </p:nvSpPr>
        <p:spPr>
          <a:xfrm>
            <a:off x="10058400" y="21031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11338560" y="1993392"/>
            <a:ext cx="1097280" cy="457200"/>
          </a:xfrm>
          <a:prstGeom prst="roundRect">
            <a:avLst>
              <a:gd name="adj" fmla="val 12000"/>
            </a:avLst>
          </a:prstGeom>
          <a:solidFill>
            <a:srgbClr val="10B981"/>
          </a:solidFill>
          <a:ln/>
        </p:spPr>
      </p:sp>
      <p:sp>
        <p:nvSpPr>
          <p:cNvPr id="55" name="Text 53"/>
          <p:cNvSpPr/>
          <p:nvPr/>
        </p:nvSpPr>
        <p:spPr>
          <a:xfrm>
            <a:off x="11338560" y="21031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6446520" y="265176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Anjali Singh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7498080" y="2651760"/>
            <a:ext cx="1097280" cy="457200"/>
          </a:xfrm>
          <a:prstGeom prst="roundRect">
            <a:avLst>
              <a:gd name="adj" fmla="val 12000"/>
            </a:avLst>
          </a:prstGeom>
          <a:solidFill>
            <a:srgbClr val="10B981"/>
          </a:solidFill>
          <a:ln/>
        </p:spPr>
      </p:sp>
      <p:sp>
        <p:nvSpPr>
          <p:cNvPr id="58" name="Text 56"/>
          <p:cNvSpPr/>
          <p:nvPr/>
        </p:nvSpPr>
        <p:spPr>
          <a:xfrm>
            <a:off x="7498080" y="276148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8778240" y="2651760"/>
            <a:ext cx="1097280" cy="457200"/>
          </a:xfrm>
          <a:prstGeom prst="roundRect">
            <a:avLst>
              <a:gd name="adj" fmla="val 12000"/>
            </a:avLst>
          </a:prstGeom>
          <a:solidFill>
            <a:srgbClr val="F59E0B"/>
          </a:solidFill>
          <a:ln/>
        </p:spPr>
      </p:sp>
      <p:sp>
        <p:nvSpPr>
          <p:cNvPr id="60" name="Text 58"/>
          <p:cNvSpPr/>
          <p:nvPr/>
        </p:nvSpPr>
        <p:spPr>
          <a:xfrm>
            <a:off x="8778240" y="276148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10058400" y="2651760"/>
            <a:ext cx="1097280" cy="457200"/>
          </a:xfrm>
          <a:prstGeom prst="roundRect">
            <a:avLst>
              <a:gd name="adj" fmla="val 12000"/>
            </a:avLst>
          </a:prstGeom>
          <a:solidFill>
            <a:srgbClr val="DC2626"/>
          </a:solidFill>
          <a:ln/>
        </p:spPr>
      </p:sp>
      <p:sp>
        <p:nvSpPr>
          <p:cNvPr id="62" name="Text 60"/>
          <p:cNvSpPr/>
          <p:nvPr/>
        </p:nvSpPr>
        <p:spPr>
          <a:xfrm>
            <a:off x="10058400" y="276148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110%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11338560" y="2651760"/>
            <a:ext cx="1097280" cy="457200"/>
          </a:xfrm>
          <a:prstGeom prst="roundRect">
            <a:avLst>
              <a:gd name="adj" fmla="val 12000"/>
            </a:avLst>
          </a:prstGeom>
          <a:solidFill>
            <a:srgbClr val="10B981"/>
          </a:solidFill>
          <a:ln/>
        </p:spPr>
      </p:sp>
      <p:sp>
        <p:nvSpPr>
          <p:cNvPr id="64" name="Text 62"/>
          <p:cNvSpPr/>
          <p:nvPr/>
        </p:nvSpPr>
        <p:spPr>
          <a:xfrm>
            <a:off x="11338560" y="276148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6446520" y="3310128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Vikram Mehta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7498080" y="3310128"/>
            <a:ext cx="1097280" cy="457200"/>
          </a:xfrm>
          <a:prstGeom prst="roundRect">
            <a:avLst>
              <a:gd name="adj" fmla="val 12000"/>
            </a:avLst>
          </a:prstGeom>
          <a:solidFill>
            <a:srgbClr val="3B82F6"/>
          </a:solidFill>
          <a:ln/>
        </p:spPr>
      </p:sp>
      <p:sp>
        <p:nvSpPr>
          <p:cNvPr id="67" name="Text 65"/>
          <p:cNvSpPr/>
          <p:nvPr/>
        </p:nvSpPr>
        <p:spPr>
          <a:xfrm>
            <a:off x="7498080" y="341985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8778240" y="3310128"/>
            <a:ext cx="1097280" cy="457200"/>
          </a:xfrm>
          <a:prstGeom prst="roundRect">
            <a:avLst>
              <a:gd name="adj" fmla="val 12000"/>
            </a:avLst>
          </a:prstGeom>
          <a:solidFill>
            <a:srgbClr val="10B981"/>
          </a:solidFill>
          <a:ln/>
        </p:spPr>
      </p:sp>
      <p:sp>
        <p:nvSpPr>
          <p:cNvPr id="69" name="Text 67"/>
          <p:cNvSpPr/>
          <p:nvPr/>
        </p:nvSpPr>
        <p:spPr>
          <a:xfrm>
            <a:off x="8778240" y="341985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55%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10058400" y="3310128"/>
            <a:ext cx="1097280" cy="457200"/>
          </a:xfrm>
          <a:prstGeom prst="roundRect">
            <a:avLst>
              <a:gd name="adj" fmla="val 12000"/>
            </a:avLst>
          </a:prstGeom>
          <a:solidFill>
            <a:srgbClr val="10B981"/>
          </a:solidFill>
          <a:ln/>
        </p:spPr>
      </p:sp>
      <p:sp>
        <p:nvSpPr>
          <p:cNvPr id="71" name="Text 69"/>
          <p:cNvSpPr/>
          <p:nvPr/>
        </p:nvSpPr>
        <p:spPr>
          <a:xfrm>
            <a:off x="10058400" y="341985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11338560" y="3310128"/>
            <a:ext cx="1097280" cy="457200"/>
          </a:xfrm>
          <a:prstGeom prst="roundRect">
            <a:avLst>
              <a:gd name="adj" fmla="val 12000"/>
            </a:avLst>
          </a:prstGeom>
          <a:solidFill>
            <a:srgbClr val="3B82F6"/>
          </a:solidFill>
          <a:ln/>
        </p:spPr>
      </p:sp>
      <p:sp>
        <p:nvSpPr>
          <p:cNvPr id="73" name="Text 71"/>
          <p:cNvSpPr/>
          <p:nvPr/>
        </p:nvSpPr>
        <p:spPr>
          <a:xfrm>
            <a:off x="11338560" y="341985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6446520" y="4224528"/>
            <a:ext cx="1188720" cy="457200"/>
          </a:xfrm>
          <a:prstGeom prst="roundRect">
            <a:avLst>
              <a:gd name="adj" fmla="val 12000"/>
            </a:avLst>
          </a:prstGeom>
          <a:solidFill>
            <a:srgbClr val="3B82F6"/>
          </a:solidFill>
          <a:ln/>
        </p:spPr>
      </p:sp>
      <p:sp>
        <p:nvSpPr>
          <p:cNvPr id="75" name="Text 73"/>
          <p:cNvSpPr/>
          <p:nvPr/>
        </p:nvSpPr>
        <p:spPr>
          <a:xfrm>
            <a:off x="6446520" y="4297680"/>
            <a:ext cx="1188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50%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7818120" y="4224528"/>
            <a:ext cx="1188720" cy="457200"/>
          </a:xfrm>
          <a:prstGeom prst="roundRect">
            <a:avLst>
              <a:gd name="adj" fmla="val 12000"/>
            </a:avLst>
          </a:prstGeom>
          <a:solidFill>
            <a:srgbClr val="10B981"/>
          </a:solidFill>
          <a:ln/>
        </p:spPr>
      </p:sp>
      <p:sp>
        <p:nvSpPr>
          <p:cNvPr id="77" name="Text 75"/>
          <p:cNvSpPr/>
          <p:nvPr/>
        </p:nvSpPr>
        <p:spPr>
          <a:xfrm>
            <a:off x="7818120" y="4297680"/>
            <a:ext cx="1188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50-80%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9189720" y="4224528"/>
            <a:ext cx="1188720" cy="457200"/>
          </a:xfrm>
          <a:prstGeom prst="roundRect">
            <a:avLst>
              <a:gd name="adj" fmla="val 12000"/>
            </a:avLst>
          </a:prstGeom>
          <a:solidFill>
            <a:srgbClr val="F59E0B"/>
          </a:solidFill>
          <a:ln/>
        </p:spPr>
      </p:sp>
      <p:sp>
        <p:nvSpPr>
          <p:cNvPr id="79" name="Text 77"/>
          <p:cNvSpPr/>
          <p:nvPr/>
        </p:nvSpPr>
        <p:spPr>
          <a:xfrm>
            <a:off x="9189720" y="4297680"/>
            <a:ext cx="1188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80-100%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10561320" y="4224528"/>
            <a:ext cx="1188720" cy="457200"/>
          </a:xfrm>
          <a:prstGeom prst="roundRect">
            <a:avLst>
              <a:gd name="adj" fmla="val 12000"/>
            </a:avLst>
          </a:prstGeom>
          <a:solidFill>
            <a:srgbClr val="DC2626"/>
          </a:solidFill>
          <a:ln/>
        </p:spPr>
      </p:sp>
      <p:sp>
        <p:nvSpPr>
          <p:cNvPr id="81" name="Text 79"/>
          <p:cNvSpPr/>
          <p:nvPr/>
        </p:nvSpPr>
        <p:spPr>
          <a:xfrm>
            <a:off x="10561320" y="4297680"/>
            <a:ext cx="1188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100%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6400800" y="4828032"/>
            <a:ext cx="27432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8000"/>
              </a:srgbClr>
            </a:outerShdw>
          </a:effectLst>
        </p:spPr>
      </p:sp>
      <p:sp>
        <p:nvSpPr>
          <p:cNvPr id="83" name="Shape 81"/>
          <p:cNvSpPr/>
          <p:nvPr/>
        </p:nvSpPr>
        <p:spPr>
          <a:xfrm>
            <a:off x="6400800" y="4828032"/>
            <a:ext cx="2743200" cy="347472"/>
          </a:xfrm>
          <a:prstGeom prst="roundRect">
            <a:avLst>
              <a:gd name="adj" fmla="val 26316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6400800" y="5010912"/>
            <a:ext cx="2743200" cy="16459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6537960" y="4882896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Features</a:t>
            </a:r>
            <a:endParaRPr lang="en-US" sz="1100" dirty="0"/>
          </a:p>
        </p:txBody>
      </p:sp>
      <p:sp>
        <p:nvSpPr>
          <p:cNvPr id="86" name="Text 84"/>
          <p:cNvSpPr/>
          <p:nvPr/>
        </p:nvSpPr>
        <p:spPr>
          <a:xfrm>
            <a:off x="6537960" y="5230368"/>
            <a:ext cx="2468880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 / 4 / 8 week view toggle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Per-member workload cards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Over-utilization alerts</a:t>
            </a:r>
            <a:endParaRPr lang="en-US" sz="950" dirty="0"/>
          </a:p>
        </p:txBody>
      </p:sp>
      <p:sp>
        <p:nvSpPr>
          <p:cNvPr id="87" name="Shape 85"/>
          <p:cNvSpPr/>
          <p:nvPr/>
        </p:nvSpPr>
        <p:spPr>
          <a:xfrm>
            <a:off x="9326880" y="4828032"/>
            <a:ext cx="27432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8000"/>
              </a:srgbClr>
            </a:outerShdw>
          </a:effectLst>
        </p:spPr>
      </p:sp>
      <p:sp>
        <p:nvSpPr>
          <p:cNvPr id="88" name="Shape 86"/>
          <p:cNvSpPr/>
          <p:nvPr/>
        </p:nvSpPr>
        <p:spPr>
          <a:xfrm>
            <a:off x="9326880" y="4828032"/>
            <a:ext cx="2743200" cy="347472"/>
          </a:xfrm>
          <a:prstGeom prst="roundRect">
            <a:avLst>
              <a:gd name="adj" fmla="val 26316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9326880" y="5010912"/>
            <a:ext cx="2743200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9464040" y="4882896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Features</a:t>
            </a:r>
            <a:endParaRPr lang="en-US" sz="1100" dirty="0"/>
          </a:p>
        </p:txBody>
      </p:sp>
      <p:sp>
        <p:nvSpPr>
          <p:cNvPr id="91" name="Text 89"/>
          <p:cNvSpPr/>
          <p:nvPr/>
        </p:nvSpPr>
        <p:spPr>
          <a:xfrm>
            <a:off x="9464040" y="5230368"/>
            <a:ext cx="2468880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Project health scoring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Budget vs actual tracking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Cross-division view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09728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Dashboard &amp; OKRs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58368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visibility for leadership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51052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Council of India — Enterprise PM Tool   |   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704320" y="65105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1280160"/>
            <a:ext cx="2377440" cy="1188720"/>
          </a:xfrm>
          <a:prstGeom prst="roundRect">
            <a:avLst>
              <a:gd name="adj" fmla="val 9231"/>
            </a:avLst>
          </a:prstGeom>
          <a:solidFill>
            <a:srgbClr val="1E3A5F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5760" y="137160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65760" y="1938528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Divisions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880360" y="1280160"/>
            <a:ext cx="2377440" cy="1188720"/>
          </a:xfrm>
          <a:prstGeom prst="roundRect">
            <a:avLst>
              <a:gd name="adj" fmla="val 9231"/>
            </a:avLst>
          </a:prstGeom>
          <a:solidFill>
            <a:srgbClr val="10B981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880360" y="137160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92%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2880360" y="1938528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OKR Progress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94960" y="1280160"/>
            <a:ext cx="2377440" cy="1188720"/>
          </a:xfrm>
          <a:prstGeom prst="roundRect">
            <a:avLst>
              <a:gd name="adj" fmla="val 9231"/>
            </a:avLst>
          </a:prstGeom>
          <a:solidFill>
            <a:srgbClr val="8B5CF6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394960" y="137160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₹80L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5394960" y="1938528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Budget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909560" y="1280160"/>
            <a:ext cx="2377440" cy="1188720"/>
          </a:xfrm>
          <a:prstGeom prst="roundRect">
            <a:avLst>
              <a:gd name="adj" fmla="val 9231"/>
            </a:avLst>
          </a:prstGeom>
          <a:solidFill>
            <a:srgbClr val="3B82F6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909560" y="137160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148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7909560" y="1938528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Tasks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2651760"/>
            <a:ext cx="347472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2651760"/>
            <a:ext cx="3474720" cy="347472"/>
          </a:xfrm>
          <a:prstGeom prst="roundRect">
            <a:avLst>
              <a:gd name="adj" fmla="val 26316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2834640"/>
            <a:ext cx="3474720" cy="16459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270662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OKR Dashboard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02920" y="3054096"/>
            <a:ext cx="32004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Company &amp; division-level OKRs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Key Results with % progress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Q1/Q2/Q3/Q4 quarterly view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Inline KR update by manager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023360" y="2651760"/>
            <a:ext cx="347472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023360" y="2651760"/>
            <a:ext cx="3474720" cy="347472"/>
          </a:xfrm>
          <a:prstGeom prst="roundRect">
            <a:avLst>
              <a:gd name="adj" fmla="val 26316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23360" y="2834640"/>
            <a:ext cx="3474720" cy="16459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60520" y="270662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 Scorecards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160520" y="3054096"/>
            <a:ext cx="32004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Health status: Green/Amber/Red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Completion %, overdue tasks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Budget utilization bars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Trend vs. previous period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7680960" y="2651760"/>
            <a:ext cx="347472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7680960" y="2651760"/>
            <a:ext cx="3474720" cy="347472"/>
          </a:xfrm>
          <a:prstGeom prst="roundRect">
            <a:avLst>
              <a:gd name="adj" fmla="val 26316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80960" y="2834640"/>
            <a:ext cx="3474720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818120" y="270662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Dashboard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818120" y="3054096"/>
            <a:ext cx="32004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Team size per division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Billable vs non-billable hours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Capacity vs. demand view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Exportable reports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65760" y="4645152"/>
            <a:ext cx="347472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365760" y="4645152"/>
            <a:ext cx="3474720" cy="347472"/>
          </a:xfrm>
          <a:prstGeom prst="roundRect">
            <a:avLst>
              <a:gd name="adj" fmla="val 26316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828032"/>
            <a:ext cx="3474720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2920" y="4700016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Rollup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02920" y="5047488"/>
            <a:ext cx="3200400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Org-wide KPI summary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Alerts for at-risk divisions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Velocity trends comparison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Budget comparison chart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023360" y="4645152"/>
            <a:ext cx="347472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4023360" y="4645152"/>
            <a:ext cx="3474720" cy="347472"/>
          </a:xfrm>
          <a:prstGeom prst="roundRect">
            <a:avLst>
              <a:gd name="adj" fmla="val 26316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023360" y="4828032"/>
            <a:ext cx="3474720" cy="16459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60520" y="4700016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View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160520" y="5047488"/>
            <a:ext cx="3200400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All projects in one view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Filter by division/status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Health matrix at a glance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Drill-down per project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680960" y="4645152"/>
            <a:ext cx="347472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7680960" y="4645152"/>
            <a:ext cx="3474720" cy="347472"/>
          </a:xfrm>
          <a:prstGeom prst="roundRect">
            <a:avLst>
              <a:gd name="adj" fmla="val 26316"/>
            </a:avLst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680960" y="4828032"/>
            <a:ext cx="3474720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818120" y="4700016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7818120" y="5047488"/>
            <a:ext cx="3200400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Executive role = read-only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accidental modifications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Downloadable board reports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PDF / CSV export options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09728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Platform-Wide Features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58368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Search, notifications, exports, AI &amp; integrations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51052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Council of India — Enterprise PM Tool   |   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704320" y="65105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1325880"/>
            <a:ext cx="265176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1325880"/>
            <a:ext cx="2651760" cy="347472"/>
          </a:xfrm>
          <a:prstGeom prst="roundRect">
            <a:avLst>
              <a:gd name="adj" fmla="val 26316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508760"/>
            <a:ext cx="2651760" cy="16459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380744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Search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" y="1728216"/>
            <a:ext cx="2377440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Search tasks &amp; projects instantly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Results in &lt; 200ms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Filter by type (task/project)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Keyboard shortcut: ⌘K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00400" y="1325880"/>
            <a:ext cx="265176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00400" y="1325880"/>
            <a:ext cx="2651760" cy="347472"/>
          </a:xfrm>
          <a:prstGeom prst="roundRect">
            <a:avLst>
              <a:gd name="adj" fmla="val 26316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1508760"/>
            <a:ext cx="2651760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37560" y="1380744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337560" y="1728216"/>
            <a:ext cx="2377440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In-app notification panel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Mark individual / all as read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Delete notifications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Auto-polls every 30 seconds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035040" y="1325880"/>
            <a:ext cx="265176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035040" y="1325880"/>
            <a:ext cx="2651760" cy="347472"/>
          </a:xfrm>
          <a:prstGeom prst="roundRect">
            <a:avLst>
              <a:gd name="adj" fmla="val 26316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35040" y="1508760"/>
            <a:ext cx="2651760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72200" y="1380744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172200" y="1728216"/>
            <a:ext cx="2377440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Export tasks to CSV / Excel / PDF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Export projects summary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Filter before export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Download history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869680" y="1325880"/>
            <a:ext cx="265176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869680" y="1325880"/>
            <a:ext cx="2651760" cy="347472"/>
          </a:xfrm>
          <a:prstGeom prst="roundRect">
            <a:avLst>
              <a:gd name="adj" fmla="val 26316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869680" y="1508760"/>
            <a:ext cx="2651760" cy="16459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006840" y="1380744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006840" y="1728216"/>
            <a:ext cx="2377440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Powered by Claude (Anthropic)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Task description suggestions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Sprint goal recommendations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Status report drafting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65760" y="3520440"/>
            <a:ext cx="265176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65760" y="3520440"/>
            <a:ext cx="2651760" cy="347472"/>
          </a:xfrm>
          <a:prstGeom prst="roundRect">
            <a:avLst>
              <a:gd name="adj" fmla="val 26316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703320"/>
            <a:ext cx="2651760" cy="16459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2920" y="3575304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 View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02920" y="3922776"/>
            <a:ext cx="2377440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Tasks plotted by due date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Monthly / weekly calendar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Click task to open detail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Color-coded by project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3200400" y="3520440"/>
            <a:ext cx="265176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00400" y="3520440"/>
            <a:ext cx="2651760" cy="347472"/>
          </a:xfrm>
          <a:prstGeom prst="roundRect">
            <a:avLst>
              <a:gd name="adj" fmla="val 26316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703320"/>
            <a:ext cx="2651760" cy="16459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337560" y="3575304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Roles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337560" y="3922776"/>
            <a:ext cx="2377440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Define custom permission sets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Edit system role permissions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Assign to members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Granular access control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035040" y="3520440"/>
            <a:ext cx="265176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035040" y="3520440"/>
            <a:ext cx="2651760" cy="347472"/>
          </a:xfrm>
          <a:prstGeom prst="roundRect">
            <a:avLst>
              <a:gd name="adj" fmla="val 26316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035040" y="3703320"/>
            <a:ext cx="2651760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172200" y="3575304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Users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172200" y="3922776"/>
            <a:ext cx="2377440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Invite external collaborators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Set access expiry dates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Project-level guest access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Revoke access instantly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8869680" y="3520440"/>
            <a:ext cx="265176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8869680" y="3520440"/>
            <a:ext cx="2651760" cy="347472"/>
          </a:xfrm>
          <a:prstGeom prst="roundRect">
            <a:avLst>
              <a:gd name="adj" fmla="val 26316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869680" y="3703320"/>
            <a:ext cx="2651760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006840" y="3575304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 365 Integration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9006840" y="3922776"/>
            <a:ext cx="2377440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Outlook calendar sync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Teams notification support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Azure AD authentication (prod)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OneDrive attachment storage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65760" y="5742432"/>
            <a:ext cx="11430000" cy="457200"/>
          </a:xfrm>
          <a:prstGeom prst="roundRect">
            <a:avLst>
              <a:gd name="adj" fmla="val 16000"/>
            </a:avLst>
          </a:prstGeom>
          <a:solidFill>
            <a:srgbClr val="F0F9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02920" y="5815584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 Enterprise Security:   JWT authentication  ·  Rate limiting (100 req/min)  ·  Helmet.js security headers  ·  CORS origin validation  ·  bcrypt password hashing  ·  Refresh token rotation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09728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Architecture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58368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Modern, scalable full-stack architecture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51052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Council of India — Enterprise PM Tool   |   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704320" y="65105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1298448"/>
            <a:ext cx="2697480" cy="3840480"/>
          </a:xfrm>
          <a:prstGeom prst="roundRect">
            <a:avLst>
              <a:gd name="adj" fmla="val 4068"/>
            </a:avLst>
          </a:prstGeom>
          <a:solidFill>
            <a:srgbClr val="F1F5F9"/>
          </a:solidFill>
          <a:ln/>
        </p:spPr>
      </p:sp>
      <p:sp>
        <p:nvSpPr>
          <p:cNvPr id="9" name="Shape 7"/>
          <p:cNvSpPr/>
          <p:nvPr/>
        </p:nvSpPr>
        <p:spPr>
          <a:xfrm>
            <a:off x="365760" y="1298448"/>
            <a:ext cx="2697480" cy="457200"/>
          </a:xfrm>
          <a:prstGeom prst="roundRect">
            <a:avLst>
              <a:gd name="adj" fmla="val 24000"/>
            </a:avLst>
          </a:prstGeom>
          <a:solidFill>
            <a:srgbClr val="3B82F6"/>
          </a:solidFill>
          <a:ln/>
        </p:spPr>
      </p:sp>
      <p:sp>
        <p:nvSpPr>
          <p:cNvPr id="10" name="Shape 8"/>
          <p:cNvSpPr/>
          <p:nvPr/>
        </p:nvSpPr>
        <p:spPr>
          <a:xfrm>
            <a:off x="365760" y="1572768"/>
            <a:ext cx="2697480" cy="20116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" y="1389888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02920" y="1883664"/>
            <a:ext cx="242316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" y="1975104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+ TypeScript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02920" y="2487168"/>
            <a:ext cx="242316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" y="257860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TanStack Query v5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02920" y="3090672"/>
            <a:ext cx="242316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" y="318211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 + shadcn/ui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3694176"/>
            <a:ext cx="242316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1792" y="378561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Router v6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02920" y="4297680"/>
            <a:ext cx="242316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" y="43891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 build tool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291840" y="1298448"/>
            <a:ext cx="2697480" cy="3840480"/>
          </a:xfrm>
          <a:prstGeom prst="roundRect">
            <a:avLst>
              <a:gd name="adj" fmla="val 4068"/>
            </a:avLst>
          </a:prstGeom>
          <a:solidFill>
            <a:srgbClr val="F1F5F9"/>
          </a:solidFill>
          <a:ln/>
        </p:spPr>
      </p:sp>
      <p:sp>
        <p:nvSpPr>
          <p:cNvPr id="23" name="Shape 21"/>
          <p:cNvSpPr/>
          <p:nvPr/>
        </p:nvSpPr>
        <p:spPr>
          <a:xfrm>
            <a:off x="3291840" y="1298448"/>
            <a:ext cx="2697480" cy="457200"/>
          </a:xfrm>
          <a:prstGeom prst="roundRect">
            <a:avLst>
              <a:gd name="adj" fmla="val 24000"/>
            </a:avLst>
          </a:prstGeom>
          <a:solidFill>
            <a:srgbClr val="1E3A5F"/>
          </a:solidFill>
          <a:ln/>
        </p:spPr>
      </p:sp>
      <p:sp>
        <p:nvSpPr>
          <p:cNvPr id="24" name="Shape 22"/>
          <p:cNvSpPr/>
          <p:nvPr/>
        </p:nvSpPr>
        <p:spPr>
          <a:xfrm>
            <a:off x="3291840" y="1572768"/>
            <a:ext cx="2697480" cy="20116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5" name="Text 23"/>
          <p:cNvSpPr/>
          <p:nvPr/>
        </p:nvSpPr>
        <p:spPr>
          <a:xfrm>
            <a:off x="3401568" y="1389888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429000" y="1883664"/>
            <a:ext cx="242316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47872" y="1975104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+ Express 5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429000" y="2487168"/>
            <a:ext cx="242316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547872" y="257860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In-memory stores (dev)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429000" y="3090672"/>
            <a:ext cx="242316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47872" y="318211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ORM (prod)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429000" y="3694176"/>
            <a:ext cx="242316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547872" y="378561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+ Refresh Tokens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429000" y="4297680"/>
            <a:ext cx="242316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547872" y="43891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Zod validation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217920" y="1298448"/>
            <a:ext cx="2697480" cy="3840480"/>
          </a:xfrm>
          <a:prstGeom prst="roundRect">
            <a:avLst>
              <a:gd name="adj" fmla="val 4068"/>
            </a:avLst>
          </a:prstGeom>
          <a:solidFill>
            <a:srgbClr val="F1F5F9"/>
          </a:solidFill>
          <a:ln/>
        </p:spPr>
      </p:sp>
      <p:sp>
        <p:nvSpPr>
          <p:cNvPr id="37" name="Shape 35"/>
          <p:cNvSpPr/>
          <p:nvPr/>
        </p:nvSpPr>
        <p:spPr>
          <a:xfrm>
            <a:off x="6217920" y="1298448"/>
            <a:ext cx="2697480" cy="457200"/>
          </a:xfrm>
          <a:prstGeom prst="roundRect">
            <a:avLst>
              <a:gd name="adj" fmla="val 24000"/>
            </a:avLst>
          </a:prstGeom>
          <a:solidFill>
            <a:srgbClr val="10B981"/>
          </a:solidFill>
          <a:ln/>
        </p:spPr>
      </p:sp>
      <p:sp>
        <p:nvSpPr>
          <p:cNvPr id="38" name="Shape 36"/>
          <p:cNvSpPr/>
          <p:nvPr/>
        </p:nvSpPr>
        <p:spPr>
          <a:xfrm>
            <a:off x="6217920" y="1572768"/>
            <a:ext cx="2697480" cy="20116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9" name="Text 37"/>
          <p:cNvSpPr/>
          <p:nvPr/>
        </p:nvSpPr>
        <p:spPr>
          <a:xfrm>
            <a:off x="6327648" y="1389888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355080" y="1883664"/>
            <a:ext cx="242316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73952" y="1975104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(prod DB)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355080" y="2487168"/>
            <a:ext cx="242316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73952" y="257860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(caching/queues)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355080" y="3090672"/>
            <a:ext cx="242316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73952" y="318211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BullMQ job queues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6355080" y="3694176"/>
            <a:ext cx="242316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73952" y="378561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S3 (attachments)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6355080" y="4297680"/>
            <a:ext cx="242316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73952" y="43891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Winston logging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9144000" y="1298448"/>
            <a:ext cx="2697480" cy="3840480"/>
          </a:xfrm>
          <a:prstGeom prst="roundRect">
            <a:avLst>
              <a:gd name="adj" fmla="val 4068"/>
            </a:avLst>
          </a:prstGeom>
          <a:solidFill>
            <a:srgbClr val="F1F5F9"/>
          </a:solidFill>
          <a:ln/>
        </p:spPr>
      </p:sp>
      <p:sp>
        <p:nvSpPr>
          <p:cNvPr id="51" name="Shape 49"/>
          <p:cNvSpPr/>
          <p:nvPr/>
        </p:nvSpPr>
        <p:spPr>
          <a:xfrm>
            <a:off x="9144000" y="1298448"/>
            <a:ext cx="2697480" cy="457200"/>
          </a:xfrm>
          <a:prstGeom prst="roundRect">
            <a:avLst>
              <a:gd name="adj" fmla="val 24000"/>
            </a:avLst>
          </a:prstGeom>
          <a:solidFill>
            <a:srgbClr val="8B5CF6"/>
          </a:solidFill>
          <a:ln/>
        </p:spPr>
      </p:sp>
      <p:sp>
        <p:nvSpPr>
          <p:cNvPr id="52" name="Shape 50"/>
          <p:cNvSpPr/>
          <p:nvPr/>
        </p:nvSpPr>
        <p:spPr>
          <a:xfrm>
            <a:off x="9144000" y="1572768"/>
            <a:ext cx="2697480" cy="20116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3" name="Text 51"/>
          <p:cNvSpPr/>
          <p:nvPr/>
        </p:nvSpPr>
        <p:spPr>
          <a:xfrm>
            <a:off x="9253728" y="1389888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9281160" y="1883664"/>
            <a:ext cx="242316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400032" y="1975104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Helmet.js headers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9281160" y="2487168"/>
            <a:ext cx="242316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9400032" y="257860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 whitelisting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9281160" y="3090672"/>
            <a:ext cx="242316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400032" y="318211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9281160" y="3694176"/>
            <a:ext cx="242316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400032" y="378561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 hashing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9281160" y="4297680"/>
            <a:ext cx="242316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400032" y="43891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(prod)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365760" y="5303520"/>
            <a:ext cx="11430000" cy="777240"/>
          </a:xfrm>
          <a:prstGeom prst="roundRect">
            <a:avLst>
              <a:gd name="adj" fmla="val 11765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48640" y="5394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Current Status: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2468880" y="5376672"/>
            <a:ext cx="8961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modules are functional in development mode using in-memory data stores. Production deployment requires PostgreSQL database migration via Prisma ORM and Redis configuration. The codebase is fully prepared for production with environment-based configuration.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09728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&amp; Next Steps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58368"/>
            <a:ext cx="9144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Phased delivery plan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510528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Council of India — Enterprise PM Tool   |   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704320" y="65105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1261872"/>
            <a:ext cx="2743200" cy="5029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7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1261872"/>
            <a:ext cx="2743200" cy="594360"/>
          </a:xfrm>
          <a:prstGeom prst="roundRect">
            <a:avLst>
              <a:gd name="adj" fmla="val 18462"/>
            </a:avLst>
          </a:prstGeom>
          <a:solidFill>
            <a:srgbClr val="10B981"/>
          </a:solidFill>
          <a:ln/>
        </p:spPr>
      </p:sp>
      <p:sp>
        <p:nvSpPr>
          <p:cNvPr id="10" name="Shape 8"/>
          <p:cNvSpPr/>
          <p:nvPr/>
        </p:nvSpPr>
        <p:spPr>
          <a:xfrm>
            <a:off x="365760" y="1572768"/>
            <a:ext cx="2743200" cy="2743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" y="1316736"/>
            <a:ext cx="25237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75488" y="1618488"/>
            <a:ext cx="2523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– Apr 2026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75488" y="1938528"/>
            <a:ext cx="2523744" cy="274320"/>
          </a:xfrm>
          <a:prstGeom prst="roundRect">
            <a:avLst>
              <a:gd name="adj" fmla="val 20000"/>
            </a:avLst>
          </a:prstGeom>
          <a:solidFill>
            <a:srgbClr val="D1FAE5"/>
          </a:solidFill>
          <a:ln/>
        </p:spPr>
      </p:sp>
      <p:sp>
        <p:nvSpPr>
          <p:cNvPr id="14" name="Text 12"/>
          <p:cNvSpPr/>
          <p:nvPr/>
        </p:nvSpPr>
        <p:spPr>
          <a:xfrm>
            <a:off x="475488" y="1993392"/>
            <a:ext cx="252374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✅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30352" y="2359152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Authentication &amp; user management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30352" y="2962656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Project &amp; task management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30352" y="356616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Kanban board with drag-drop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30352" y="4169664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Sprint management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30352" y="4773168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Division management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30352" y="5376672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Workflow &amp; approvals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64992" y="1261872"/>
            <a:ext cx="2743200" cy="5029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364992" y="1261872"/>
            <a:ext cx="2743200" cy="594360"/>
          </a:xfrm>
          <a:prstGeom prst="roundRect">
            <a:avLst>
              <a:gd name="adj" fmla="val 18462"/>
            </a:avLst>
          </a:prstGeom>
          <a:solidFill>
            <a:srgbClr val="3B82F6"/>
          </a:solidFill>
          <a:ln/>
        </p:spPr>
      </p:sp>
      <p:sp>
        <p:nvSpPr>
          <p:cNvPr id="23" name="Shape 21"/>
          <p:cNvSpPr/>
          <p:nvPr/>
        </p:nvSpPr>
        <p:spPr>
          <a:xfrm>
            <a:off x="3364992" y="1572768"/>
            <a:ext cx="2743200" cy="2743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4" name="Text 22"/>
          <p:cNvSpPr/>
          <p:nvPr/>
        </p:nvSpPr>
        <p:spPr>
          <a:xfrm>
            <a:off x="3474720" y="1316736"/>
            <a:ext cx="25237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474720" y="1618488"/>
            <a:ext cx="2523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 – Apr 2026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474720" y="1938528"/>
            <a:ext cx="2523744" cy="274320"/>
          </a:xfrm>
          <a:prstGeom prst="roundRect">
            <a:avLst>
              <a:gd name="adj" fmla="val 20000"/>
            </a:avLst>
          </a:prstGeom>
          <a:solidFill>
            <a:srgbClr val="DBEAFE"/>
          </a:solidFill>
          <a:ln/>
        </p:spPr>
      </p:sp>
      <p:sp>
        <p:nvSpPr>
          <p:cNvPr id="27" name="Text 25"/>
          <p:cNvSpPr/>
          <p:nvPr/>
        </p:nvSpPr>
        <p:spPr>
          <a:xfrm>
            <a:off x="3474720" y="1993392"/>
            <a:ext cx="252374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✅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3529584" y="2359152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Time tracking &amp; timesheets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529584" y="2962656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Portfolio dashboard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529584" y="356616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Capacity planning heatmap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529584" y="4169664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Executive OKR dashboard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529584" y="4773168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Global search &amp; notifications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529584" y="5376672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Custom roles &amp; exports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364224" y="1261872"/>
            <a:ext cx="2743200" cy="5029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7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364224" y="1261872"/>
            <a:ext cx="2743200" cy="594360"/>
          </a:xfrm>
          <a:prstGeom prst="roundRect">
            <a:avLst>
              <a:gd name="adj" fmla="val 18462"/>
            </a:avLst>
          </a:prstGeom>
          <a:solidFill>
            <a:srgbClr val="F59E0B"/>
          </a:solidFill>
          <a:ln/>
        </p:spPr>
      </p:sp>
      <p:sp>
        <p:nvSpPr>
          <p:cNvPr id="36" name="Shape 34"/>
          <p:cNvSpPr/>
          <p:nvPr/>
        </p:nvSpPr>
        <p:spPr>
          <a:xfrm>
            <a:off x="6364224" y="1572768"/>
            <a:ext cx="2743200" cy="2743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7" name="Text 35"/>
          <p:cNvSpPr/>
          <p:nvPr/>
        </p:nvSpPr>
        <p:spPr>
          <a:xfrm>
            <a:off x="6473952" y="1316736"/>
            <a:ext cx="25237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473952" y="1618488"/>
            <a:ext cx="2523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– Jun 2026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473952" y="1938528"/>
            <a:ext cx="2523744" cy="274320"/>
          </a:xfrm>
          <a:prstGeom prst="roundRect">
            <a:avLst>
              <a:gd name="adj" fmla="val 20000"/>
            </a:avLst>
          </a:prstGeom>
          <a:solidFill>
            <a:srgbClr val="FEF3C7"/>
          </a:solidFill>
          <a:ln/>
        </p:spPr>
      </p:sp>
      <p:sp>
        <p:nvSpPr>
          <p:cNvPr id="40" name="Text 38"/>
          <p:cNvSpPr/>
          <p:nvPr/>
        </p:nvSpPr>
        <p:spPr>
          <a:xfrm>
            <a:off x="6473952" y="1993392"/>
            <a:ext cx="252374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 🔄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528816" y="2359152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Production DB migration (PostgreSQL)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528816" y="2962656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Gmail/SMTP email delivery live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528816" y="356616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MS 365 / Azure AD integration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528816" y="4169664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Mobile responsive polish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528816" y="4773168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Performance optimization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528816" y="5376672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Security audit &amp; pen testing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9363456" y="1261872"/>
            <a:ext cx="2743200" cy="5029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7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9363456" y="1261872"/>
            <a:ext cx="2743200" cy="594360"/>
          </a:xfrm>
          <a:prstGeom prst="roundRect">
            <a:avLst>
              <a:gd name="adj" fmla="val 18462"/>
            </a:avLst>
          </a:prstGeom>
          <a:solidFill>
            <a:srgbClr val="94A3B8"/>
          </a:solidFill>
          <a:ln/>
        </p:spPr>
      </p:sp>
      <p:sp>
        <p:nvSpPr>
          <p:cNvPr id="49" name="Shape 47"/>
          <p:cNvSpPr/>
          <p:nvPr/>
        </p:nvSpPr>
        <p:spPr>
          <a:xfrm>
            <a:off x="9363456" y="1572768"/>
            <a:ext cx="2743200" cy="27432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50" name="Text 48"/>
          <p:cNvSpPr/>
          <p:nvPr/>
        </p:nvSpPr>
        <p:spPr>
          <a:xfrm>
            <a:off x="9473184" y="1316736"/>
            <a:ext cx="25237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9473184" y="1618488"/>
            <a:ext cx="2523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– Sep 2026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9473184" y="1938528"/>
            <a:ext cx="2523744" cy="27432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/>
        </p:spPr>
      </p:sp>
      <p:sp>
        <p:nvSpPr>
          <p:cNvPr id="53" name="Text 51"/>
          <p:cNvSpPr/>
          <p:nvPr/>
        </p:nvSpPr>
        <p:spPr>
          <a:xfrm>
            <a:off x="9473184" y="1993392"/>
            <a:ext cx="252374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 📋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9528048" y="2359152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Native mobile app (React Native)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9528048" y="2962656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Advanced AI suggestions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9528048" y="356616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Gantt chart view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9528048" y="4169664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Budget tracking module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9528048" y="4773168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Multi-language support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9528048" y="5376672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SSO / SAML integration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54880"/>
            <a:ext cx="12192000" cy="2103120"/>
          </a:xfrm>
          <a:prstGeom prst="rect">
            <a:avLst/>
          </a:prstGeom>
          <a:solidFill>
            <a:srgbClr val="152B4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2331720"/>
            <a:ext cx="164592" cy="18288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457200" y="251460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F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3108960"/>
            <a:ext cx="36576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329184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priyanka.bansal@qcin.org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73075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Council of India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4169664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PM Tool — v1.0  |  April 2026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961120" y="109728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3B82F6"/>
          </a:solidFill>
          <a:ln/>
        </p:spPr>
      </p:sp>
      <p:sp>
        <p:nvSpPr>
          <p:cNvPr id="12" name="Text 10"/>
          <p:cNvSpPr/>
          <p:nvPr/>
        </p:nvSpPr>
        <p:spPr>
          <a:xfrm>
            <a:off x="8961120" y="1298448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607040" y="109728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2D5FA3"/>
          </a:solidFill>
          <a:ln/>
        </p:spPr>
      </p:sp>
      <p:sp>
        <p:nvSpPr>
          <p:cNvPr id="14" name="Text 12"/>
          <p:cNvSpPr/>
          <p:nvPr/>
        </p:nvSpPr>
        <p:spPr>
          <a:xfrm>
            <a:off x="10607040" y="1298448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961120" y="210312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3B82F6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2304288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0607040" y="210312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2D5FA3"/>
          </a:solidFill>
          <a:ln/>
        </p:spPr>
      </p:sp>
      <p:sp>
        <p:nvSpPr>
          <p:cNvPr id="18" name="Text 16"/>
          <p:cNvSpPr/>
          <p:nvPr/>
        </p:nvSpPr>
        <p:spPr>
          <a:xfrm>
            <a:off x="10607040" y="2304288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961120" y="310896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3B82F6"/>
          </a:solidFill>
          <a:ln/>
        </p:spPr>
      </p:sp>
      <p:sp>
        <p:nvSpPr>
          <p:cNvPr id="20" name="Text 18"/>
          <p:cNvSpPr/>
          <p:nvPr/>
        </p:nvSpPr>
        <p:spPr>
          <a:xfrm>
            <a:off x="8961120" y="3310128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607040" y="310896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2D5FA3"/>
          </a:solidFill>
          <a:ln/>
        </p:spPr>
      </p:sp>
      <p:sp>
        <p:nvSpPr>
          <p:cNvPr id="22" name="Text 20"/>
          <p:cNvSpPr/>
          <p:nvPr/>
        </p:nvSpPr>
        <p:spPr>
          <a:xfrm>
            <a:off x="10607040" y="3310128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961120" y="4114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3B82F6"/>
          </a:solidFill>
          <a:ln/>
        </p:spPr>
      </p:sp>
      <p:sp>
        <p:nvSpPr>
          <p:cNvPr id="24" name="Text 22"/>
          <p:cNvSpPr/>
          <p:nvPr/>
        </p:nvSpPr>
        <p:spPr>
          <a:xfrm>
            <a:off x="8961120" y="4315968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OKRs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0607040" y="4114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2D5FA3"/>
          </a:solidFill>
          <a:ln/>
        </p:spPr>
      </p:sp>
      <p:sp>
        <p:nvSpPr>
          <p:cNvPr id="26" name="Text 24"/>
          <p:cNvSpPr/>
          <p:nvPr/>
        </p:nvSpPr>
        <p:spPr>
          <a:xfrm>
            <a:off x="10607040" y="4315968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Timesheets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961120" y="512064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3B82F6"/>
          </a:solidFill>
          <a:ln/>
        </p:spPr>
      </p:sp>
      <p:sp>
        <p:nvSpPr>
          <p:cNvPr id="28" name="Text 26"/>
          <p:cNvSpPr/>
          <p:nvPr/>
        </p:nvSpPr>
        <p:spPr>
          <a:xfrm>
            <a:off x="8961120" y="5321808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607040" y="512064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2D5FA3"/>
          </a:solidFill>
          <a:ln/>
        </p:spPr>
      </p:sp>
      <p:sp>
        <p:nvSpPr>
          <p:cNvPr id="30" name="Text 28"/>
          <p:cNvSpPr/>
          <p:nvPr/>
        </p:nvSpPr>
        <p:spPr>
          <a:xfrm>
            <a:off x="10607040" y="5321808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QCI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Enterprise Project Management Tool</dc:title>
  <dc:subject>Enterprise PM Tool</dc:subject>
  <dc:creator>Quality Council of India</dc:creator>
  <cp:lastModifiedBy>Quality Council of India</cp:lastModifiedBy>
  <cp:revision>1</cp:revision>
  <dcterms:created xsi:type="dcterms:W3CDTF">2026-04-23T13:24:41Z</dcterms:created>
  <dcterms:modified xsi:type="dcterms:W3CDTF">2026-04-23T13:24:41Z</dcterms:modified>
</cp:coreProperties>
</file>